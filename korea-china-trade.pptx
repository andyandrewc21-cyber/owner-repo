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76c43746-6de4-a4d8-3c9f-4d4ce31b6adb}">
          <p14:sldIdLst>
            <p14:sldId id="256"/>
          </p14:sldIdLst>
        </p14:section>
        <p14:section name="Background" id="{9f2ae19f-1675-3860-49cb-94ac00d2b2d8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conomy circle 1"/>
          <p:cNvSpPr/>
          <p:nvPr/>
        </p:nvSpPr>
        <p:spPr>
          <a:xfrm>
            <a:off x="7452360" y="1874520"/>
            <a:ext cx="3108960" cy="3108960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accent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Economy circle 2"/>
          <p:cNvSpPr/>
          <p:nvPr/>
        </p:nvSpPr>
        <p:spPr>
          <a:xfrm>
            <a:off x="8732520" y="1874520"/>
            <a:ext cx="3108960" cy="3108960"/>
          </a:xfrm>
          <a:prstGeom prst="ellipse">
            <a:avLst/>
          </a:prstGeom>
          <a:solidFill>
            <a:schemeClr val="accent1">
              <a:alpha val="75000"/>
            </a:schemeClr>
          </a:solidFill>
          <a:ln w="19050">
            <a:solidFill>
              <a:schemeClr val="accent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731520" y="1371600"/>
            <a:ext cx="640080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731520" y="4800600"/>
            <a:ext cx="6400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5508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5508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5508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731520" y="1371600"/>
            <a:ext cx="64008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From Partners to Competitors: The Changing Nature of South Korea-China Trade</a:t>
            </a:r>
            <a:endParaRPr lang="en-US" sz="40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731520" y="4800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Presenter Name | Course | Date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Background: How the Relationship Developed</a:t>
            </a:r>
            <a:endParaRPr lang="en-US" sz="3600" dirty="0"/>
          </a:p>
        </p:txBody>
      </p:sp>
      <p:sp>
        <p:nvSpPr>
          <p:cNvPr id="3" name="1992 year"/>
          <p:cNvSpPr txBox="1"/>
          <p:nvPr/>
        </p:nvSpPr>
        <p:spPr>
          <a:xfrm>
            <a:off x="54864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1992</a:t>
            </a:r>
            <a:endParaRPr lang="en-US" sz="2000" dirty="0"/>
          </a:p>
        </p:txBody>
      </p:sp>
      <p:sp>
        <p:nvSpPr>
          <p:cNvPr id="4" name="1992 value"/>
          <p:cNvSpPr txBox="1"/>
          <p:nvPr/>
        </p:nvSpPr>
        <p:spPr>
          <a:xfrm>
            <a:off x="548640" y="17830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tx2"/>
                </a:solidFill>
              </a:rPr>
              <a:t>$6.4B</a:t>
            </a:r>
            <a:endParaRPr lang="en-US" sz="6600" dirty="0"/>
          </a:p>
        </p:txBody>
      </p:sp>
      <p:sp>
        <p:nvSpPr>
          <p:cNvPr id="5" name="1992 description"/>
          <p:cNvSpPr txBox="1"/>
          <p:nvPr/>
        </p:nvSpPr>
        <p:spPr>
          <a:xfrm>
            <a:off x="548640" y="274320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Diplomatic ties established</a:t>
            </a:r>
            <a:endParaRPr lang="en-US" sz="2000" dirty="0"/>
          </a:p>
        </p:txBody>
      </p:sp>
      <p:sp>
        <p:nvSpPr>
          <p:cNvPr id="6" name="2025 year"/>
          <p:cNvSpPr txBox="1"/>
          <p:nvPr/>
        </p:nvSpPr>
        <p:spPr>
          <a:xfrm>
            <a:off x="8229600" y="14173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2025</a:t>
            </a:r>
            <a:endParaRPr lang="en-US" sz="2000" dirty="0"/>
          </a:p>
        </p:txBody>
      </p:sp>
      <p:sp>
        <p:nvSpPr>
          <p:cNvPr id="7" name="2025 value"/>
          <p:cNvSpPr txBox="1"/>
          <p:nvPr/>
        </p:nvSpPr>
        <p:spPr>
          <a:xfrm>
            <a:off x="8229600" y="1783080"/>
            <a:ext cx="3413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tx2"/>
                </a:solidFill>
              </a:rPr>
              <a:t>$273B</a:t>
            </a:r>
            <a:endParaRPr lang="en-US" sz="6600" dirty="0"/>
          </a:p>
        </p:txBody>
      </p:sp>
      <p:sp>
        <p:nvSpPr>
          <p:cNvPr id="8" name="2025 description"/>
          <p:cNvSpPr txBox="1"/>
          <p:nvPr/>
        </p:nvSpPr>
        <p:spPr>
          <a:xfrm>
            <a:off x="8229600" y="2743200"/>
            <a:ext cx="34134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China is South Korea's largest trading partner</a:t>
            </a:r>
            <a:endParaRPr lang="en-US" sz="2000" dirty="0"/>
          </a:p>
        </p:txBody>
      </p:sp>
      <p:sp>
        <p:nvSpPr>
          <p:cNvPr id="9" name="Growth arrow"/>
          <p:cNvSpPr/>
          <p:nvPr/>
        </p:nvSpPr>
        <p:spPr>
          <a:xfrm>
            <a:off x="3246120" y="2240280"/>
            <a:ext cx="466344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0" name="Growth badge"/>
          <p:cNvSpPr/>
          <p:nvPr/>
        </p:nvSpPr>
        <p:spPr>
          <a:xfrm>
            <a:off x="4480560" y="1947672"/>
            <a:ext cx="2194560" cy="5852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40x+ growth</a:t>
            </a:r>
            <a:endParaRPr lang="en-US" sz="2400" dirty="0"/>
          </a:p>
        </p:txBody>
      </p:sp>
      <p:sp>
        <p:nvSpPr>
          <p:cNvPr id="11" name="Flow heading"/>
          <p:cNvSpPr txBox="1"/>
          <p:nvPr/>
        </p:nvSpPr>
        <p:spPr>
          <a:xfrm>
            <a:off x="548640" y="3703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 complementary production relationship</a:t>
            </a:r>
            <a:endParaRPr lang="en-US" sz="2000" dirty="0"/>
          </a:p>
        </p:txBody>
      </p:sp>
      <p:sp>
        <p:nvSpPr>
          <p:cNvPr id="12" name="Flow step 1"/>
          <p:cNvSpPr/>
          <p:nvPr/>
        </p:nvSpPr>
        <p:spPr>
          <a:xfrm>
            <a:off x="548640" y="4160520"/>
            <a:ext cx="33375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101600" tIns="177800" rIns="177800" bIns="1016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South Korea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Intermediate goods: semiconductors, components, petrochemicals</a:t>
            </a:r>
            <a:endParaRPr lang="en-US" sz="2000" dirty="0"/>
          </a:p>
        </p:txBody>
      </p:sp>
      <p:sp>
        <p:nvSpPr>
          <p:cNvPr id="13" name="Flow arrow 1"/>
          <p:cNvSpPr/>
          <p:nvPr/>
        </p:nvSpPr>
        <p:spPr>
          <a:xfrm>
            <a:off x="3995928" y="4914900"/>
            <a:ext cx="321412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4" name="Flow step 2"/>
          <p:cNvSpPr/>
          <p:nvPr/>
        </p:nvSpPr>
        <p:spPr>
          <a:xfrm>
            <a:off x="4427068" y="4160520"/>
            <a:ext cx="33375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101600" tIns="177800" rIns="177800" bIns="1016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China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Final assembly, including in Korean-built factories</a:t>
            </a:r>
            <a:endParaRPr lang="en-US" sz="2000" dirty="0"/>
          </a:p>
        </p:txBody>
      </p:sp>
      <p:sp>
        <p:nvSpPr>
          <p:cNvPr id="15" name="Flow arrow 2"/>
          <p:cNvSpPr/>
          <p:nvPr/>
        </p:nvSpPr>
        <p:spPr>
          <a:xfrm>
            <a:off x="7874356" y="4914900"/>
            <a:ext cx="321412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6" name="Flow step 3"/>
          <p:cNvSpPr/>
          <p:nvPr/>
        </p:nvSpPr>
        <p:spPr>
          <a:xfrm>
            <a:off x="8305495" y="4160520"/>
            <a:ext cx="33375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101600" tIns="177800" rIns="177800" bIns="1016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Domestic &amp; global markets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Finished products sold in China and worldwide</a:t>
            </a:r>
            <a:endParaRPr lang="en-US" sz="2000" dirty="0"/>
          </a:p>
        </p:txBody>
      </p:sp>
      <p:sp>
        <p:nvSpPr>
          <p:cNvPr id="17" name="Transition line"/>
          <p:cNvSpPr txBox="1"/>
          <p:nvPr/>
        </p:nvSpPr>
        <p:spPr>
          <a:xfrm>
            <a:off x="548640" y="589788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As China's own industrial capabilities expand, the relationship is evolving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5508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orea-China Trade">
  <a:themeElements>
    <a:clrScheme name="Korea-China Trade">
      <a:dk1>
        <a:srgbClr val="1E2633"/>
      </a:dk1>
      <a:lt1>
        <a:srgbClr val="FFFFFF"/>
      </a:lt1>
      <a:dk2>
        <a:srgbClr val="0F2747"/>
      </a:dk2>
      <a:lt2>
        <a:srgbClr val="EEF2F7"/>
      </a:lt2>
      <a:accent1>
        <a:srgbClr val="C8303A"/>
      </a:accent1>
      <a:accent2>
        <a:srgbClr val="3A5A8C"/>
      </a:accent2>
      <a:accent3>
        <a:srgbClr val="1F3A60"/>
      </a:accent3>
      <a:accent4>
        <a:srgbClr val="D97A80"/>
      </a:accent4>
      <a:accent5>
        <a:srgbClr val="B8C4D9"/>
      </a:accent5>
      <a:accent6>
        <a:srgbClr val="5B6B82"/>
      </a:accent6>
      <a:hlink>
        <a:srgbClr val="3A5A8C"/>
      </a:hlink>
      <a:folHlink>
        <a:srgbClr val="5B6B82"/>
      </a:folHlink>
    </a:clrScheme>
    <a:fontScheme name="Korea-China Trad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Partners to Competitors: The Changing Nature of South Korea-China Trade</dc:title>
  <dc:subject>PptxGenJS Presentation</dc:subject>
  <dc:creator>PptxGenJS</dc:creator>
  <cp:lastModifiedBy>PptxGenJS</cp:lastModifiedBy>
  <cp:revision>1</cp:revision>
  <dcterms:created xsi:type="dcterms:W3CDTF">2026-10-14T05:41:45Z</dcterms:created>
  <dcterms:modified xsi:type="dcterms:W3CDTF">2026-10-14T05:41:45Z</dcterms:modified>
</cp:coreProperties>
</file>