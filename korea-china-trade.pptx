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8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8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4"/>
    <p:sldMasterId id="2147483685" r:id="rId5"/>
  </p:sldMasterIdLst>
  <p:notesMasterIdLst>
    <p:notesMasterId r:id="rId6"/>
  </p:notesMasterIdLst>
  <p:sldIdLst>
    <p:sldId id="256" r:id="rId7"/>
    <p:sldId id="263" r:id="rId14"/>
    <p:sldId id="266" r:id="rId17"/>
  </p:sldIdLst>
  <p:sldSz cx="12192000" cy="6858000"/>
  <p:notesSz cx="6858000" cy="9144000"/>
  <p:embeddedFontLst>
    <p:embeddedFont>
      <p:font typeface="Krona One"/>
      <p:regular r:id="rId62"/>
    </p:embeddedFont>
    <p:embeddedFont>
      <p:font typeface="Proxima Nova"/>
      <p:regular r:id="rId63"/>
      <p:bold r:id="rId64"/>
      <p:italic r:id="rId65"/>
      <p:boldItalic r:id="rId66"/>
    </p:embeddedFont>
    <p:embeddedFont>
      <p:font typeface="Roboto Medium"/>
      <p:regular r:id="rId67"/>
      <p:bold r:id="rId68"/>
      <p:italic r:id="rId69"/>
      <p:boldItalic r:id="rId70"/>
    </p:embeddedFont>
    <p:embeddedFont>
      <p:font typeface="Golos Text Medium"/>
      <p:regular r:id="rId71"/>
      <p:bold r:id="rId72"/>
    </p:embeddedFont>
    <p:embeddedFont>
      <p:font typeface="Anek Bangla Light"/>
      <p:regular r:id="rId73"/>
      <p:bold r:id="rId74"/>
    </p:embeddedFont>
    <p:embeddedFont>
      <p:font typeface="Proxima Nova Semibold"/>
      <p:regular r:id="rId75"/>
      <p:bold r:id="rId76"/>
      <p:boldItalic r:id="rId77"/>
    </p:embeddedFont>
    <p:embeddedFont>
      <p:font typeface="Amatic SC"/>
      <p:regular r:id="rId78"/>
      <p:bold r:id="rId79"/>
    </p:embeddedFont>
    <p:embeddedFont>
      <p:font typeface="Anek Bangla"/>
      <p:regular r:id="rId80"/>
      <p:bold r:id="rId81"/>
    </p:embeddedFont>
    <p:embeddedFont>
      <p:font typeface="Albert Sans"/>
      <p:regular r:id="rId82"/>
      <p:bold r:id="rId83"/>
      <p:italic r:id="rId84"/>
      <p:boldItalic r:id="rId85"/>
    </p:embeddedFont>
    <p:embeddedFont>
      <p:font typeface="Anek Bangla Medium"/>
      <p:regular r:id="rId86"/>
      <p:bold r:id="rId87"/>
    </p:embeddedFont>
    <p:embeddedFont>
      <p:font typeface="Open Sans"/>
      <p:regular r:id="rId88"/>
      <p:bold r:id="rId89"/>
      <p:italic r:id="rId90"/>
      <p:boldItalic r:id="rId91"/>
    </p:embeddedFont>
    <p:embeddedFont>
      <p:font typeface="Karla"/>
      <p:regular r:id="rId92"/>
      <p:bold r:id="rId93"/>
      <p:italic r:id="rId94"/>
      <p:boldItalic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84" Type="http://schemas.openxmlformats.org/officeDocument/2006/relationships/font" Target="fonts/AlbertSans-italic.fntdata"/><Relationship Id="rId83" Type="http://schemas.openxmlformats.org/officeDocument/2006/relationships/font" Target="fonts/AlbertSans-bold.fntdata"/><Relationship Id="rId86" Type="http://schemas.openxmlformats.org/officeDocument/2006/relationships/font" Target="fonts/AnekBanglaMedium-regular.fntdata"/><Relationship Id="rId85" Type="http://schemas.openxmlformats.org/officeDocument/2006/relationships/font" Target="fonts/AlbertSans-boldItalic.fntdata"/><Relationship Id="rId88" Type="http://schemas.openxmlformats.org/officeDocument/2006/relationships/font" Target="fonts/OpenSans-regular.fntdata"/><Relationship Id="rId87" Type="http://schemas.openxmlformats.org/officeDocument/2006/relationships/font" Target="fonts/AnekBanglaMedium-bold.fntdata"/><Relationship Id="rId89" Type="http://schemas.openxmlformats.org/officeDocument/2006/relationships/font" Target="fonts/OpenSans-bold.fntdata"/><Relationship Id="rId80" Type="http://schemas.openxmlformats.org/officeDocument/2006/relationships/font" Target="fonts/AnekBangla-regular.fntdata"/><Relationship Id="rId82" Type="http://schemas.openxmlformats.org/officeDocument/2006/relationships/font" Target="fonts/AlbertSans-regular.fntdata"/><Relationship Id="rId81" Type="http://schemas.openxmlformats.org/officeDocument/2006/relationships/font" Target="fonts/AnekBangla-bold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3" Type="http://schemas.openxmlformats.org/officeDocument/2006/relationships/font" Target="fonts/AnekBanglaLight-regular.fntdata"/><Relationship Id="rId72" Type="http://schemas.openxmlformats.org/officeDocument/2006/relationships/font" Target="fonts/GolosTextMedium-bold.fntdata"/><Relationship Id="rId75" Type="http://schemas.openxmlformats.org/officeDocument/2006/relationships/font" Target="fonts/ProximaNovaSemibold-regular.fntdata"/><Relationship Id="rId74" Type="http://schemas.openxmlformats.org/officeDocument/2006/relationships/font" Target="fonts/AnekBanglaLight-bold.fntdata"/><Relationship Id="rId77" Type="http://schemas.openxmlformats.org/officeDocument/2006/relationships/font" Target="fonts/ProximaNovaSemibold-boldItalic.fntdata"/><Relationship Id="rId76" Type="http://schemas.openxmlformats.org/officeDocument/2006/relationships/font" Target="fonts/ProximaNovaSemibold-bold.fntdata"/><Relationship Id="rId79" Type="http://schemas.openxmlformats.org/officeDocument/2006/relationships/font" Target="fonts/AmaticSC-bold.fntdata"/><Relationship Id="rId78" Type="http://schemas.openxmlformats.org/officeDocument/2006/relationships/font" Target="fonts/AmaticSC-regular.fntdata"/><Relationship Id="rId71" Type="http://schemas.openxmlformats.org/officeDocument/2006/relationships/font" Target="fonts/GolosTextMedium-regular.fntdata"/><Relationship Id="rId70" Type="http://schemas.openxmlformats.org/officeDocument/2006/relationships/font" Target="fonts/RobotoMedium-boldItalic.fntdata"/><Relationship Id="rId62" Type="http://schemas.openxmlformats.org/officeDocument/2006/relationships/font" Target="fonts/KronaOne-regular.fntdata"/><Relationship Id="rId64" Type="http://schemas.openxmlformats.org/officeDocument/2006/relationships/font" Target="fonts/ProximaNova-bold.fntdata"/><Relationship Id="rId63" Type="http://schemas.openxmlformats.org/officeDocument/2006/relationships/font" Target="fonts/ProximaNova-regular.fntdata"/><Relationship Id="rId66" Type="http://schemas.openxmlformats.org/officeDocument/2006/relationships/font" Target="fonts/ProximaNova-boldItalic.fntdata"/><Relationship Id="rId65" Type="http://schemas.openxmlformats.org/officeDocument/2006/relationships/font" Target="fonts/ProximaNova-italic.fntdata"/><Relationship Id="rId68" Type="http://schemas.openxmlformats.org/officeDocument/2006/relationships/font" Target="fonts/RobotoMedium-bold.fntdata"/><Relationship Id="rId67" Type="http://schemas.openxmlformats.org/officeDocument/2006/relationships/font" Target="fonts/RobotoMedium-regular.fntdata"/><Relationship Id="rId69" Type="http://schemas.openxmlformats.org/officeDocument/2006/relationships/font" Target="fonts/RobotoMedium-italic.fntdata"/><Relationship Id="rId95" Type="http://schemas.openxmlformats.org/officeDocument/2006/relationships/font" Target="fonts/Karla-boldItalic.fntdata"/><Relationship Id="rId94" Type="http://schemas.openxmlformats.org/officeDocument/2006/relationships/font" Target="fonts/Karla-italic.fntdata"/><Relationship Id="rId91" Type="http://schemas.openxmlformats.org/officeDocument/2006/relationships/font" Target="fonts/OpenSans-boldItalic.fntdata"/><Relationship Id="rId90" Type="http://schemas.openxmlformats.org/officeDocument/2006/relationships/font" Target="fonts/OpenSans-italic.fntdata"/><Relationship Id="rId93" Type="http://schemas.openxmlformats.org/officeDocument/2006/relationships/font" Target="fonts/Karla-bold.fntdata"/><Relationship Id="rId92" Type="http://schemas.openxmlformats.org/officeDocument/2006/relationships/font" Target="fonts/Karla-regular.fntdata"/><Relationship Id="rId14" Type="http://schemas.openxmlformats.org/officeDocument/2006/relationships/slide" Target="slides/slide8.xml"/><Relationship Id="rId17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subTitle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/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2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/>
          <p:nvPr>
            <p:ph idx="2" type="pic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subTitle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61" name="Google Shape;61;p11"/>
          <p:cNvGrpSpPr/>
          <p:nvPr/>
        </p:nvGrpSpPr>
        <p:grpSpPr>
          <a:xfrm flipH="1" rot="5400000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6">
    <p:bg>
      <p:bgPr>
        <a:solidFill>
          <a:schemeClr val="accent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hasCustomPrompt="1" idx="2" type="title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2" type="subTitle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6" name="Google Shape;76;p14"/>
          <p:cNvSpPr txBox="1"/>
          <p:nvPr>
            <p:ph idx="3" type="subTitle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7" name="Google Shape;77;p14"/>
          <p:cNvSpPr txBox="1"/>
          <p:nvPr>
            <p:ph idx="4" type="subTitle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8" name="Google Shape;78;p14"/>
          <p:cNvSpPr txBox="1"/>
          <p:nvPr>
            <p:ph idx="5" type="subTitle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9" name="Google Shape;79;p14"/>
          <p:cNvSpPr txBox="1"/>
          <p:nvPr>
            <p:ph idx="6" type="subTitle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/>
          <p:nvPr>
            <p:ph hasCustomPrompt="1" type="title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/>
          <p:nvPr>
            <p:ph hasCustomPrompt="1" idx="7" type="title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/>
          <p:nvPr>
            <p:ph hasCustomPrompt="1" idx="8" type="title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/>
          <p:nvPr>
            <p:ph hasCustomPrompt="1" idx="9" type="title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/>
          <p:nvPr>
            <p:ph hasCustomPrompt="1" idx="13" type="title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/>
          <p:nvPr>
            <p:ph hasCustomPrompt="1" idx="14" type="title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/>
          <p:nvPr>
            <p:ph idx="15"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idx="1" type="subTitle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97" name="Google Shape;97;p1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2" type="subTitle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99" name="Google Shape;99;p15"/>
          <p:cNvSpPr txBox="1"/>
          <p:nvPr>
            <p:ph idx="3" type="subTitle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0" name="Google Shape;100;p15"/>
          <p:cNvSpPr txBox="1"/>
          <p:nvPr>
            <p:ph idx="4" type="subTitle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idx="1" type="subTitle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9" name="Google Shape;109;p1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idx="2" type="subTitle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1" name="Google Shape;111;p16"/>
          <p:cNvSpPr txBox="1"/>
          <p:nvPr>
            <p:ph idx="3" type="subTitle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2" name="Google Shape;112;p16"/>
          <p:cNvSpPr txBox="1"/>
          <p:nvPr>
            <p:ph idx="4" type="subTitle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3" name="Google Shape;113;p16"/>
          <p:cNvSpPr txBox="1"/>
          <p:nvPr>
            <p:ph idx="5" type="subTitle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4" name="Google Shape;114;p16"/>
          <p:cNvSpPr txBox="1"/>
          <p:nvPr>
            <p:ph idx="6" type="subTitle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15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idx="1" type="subTitle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0" name="Google Shape;120;p1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2" type="subTitle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2" name="Google Shape;122;p17"/>
          <p:cNvSpPr txBox="1"/>
          <p:nvPr>
            <p:ph idx="3" type="subTitle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3" name="Google Shape;123;p17"/>
          <p:cNvSpPr txBox="1"/>
          <p:nvPr>
            <p:ph idx="4" type="subTitle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4" name="Google Shape;124;p17"/>
          <p:cNvSpPr txBox="1"/>
          <p:nvPr>
            <p:ph idx="5" type="subTitle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5" name="Google Shape;125;p17"/>
          <p:cNvSpPr txBox="1"/>
          <p:nvPr>
            <p:ph idx="6" type="subTitle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/>
          <p:nvPr>
            <p:ph idx="1" type="subTitle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4" name="Google Shape;134;p1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2" type="subTitle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6" name="Google Shape;136;p18"/>
          <p:cNvSpPr txBox="1"/>
          <p:nvPr>
            <p:ph idx="3" type="subTitle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7" name="Google Shape;137;p18"/>
          <p:cNvSpPr txBox="1"/>
          <p:nvPr>
            <p:ph idx="4" type="subTitle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8" name="Google Shape;138;p18"/>
          <p:cNvSpPr txBox="1"/>
          <p:nvPr>
            <p:ph idx="5" type="subTitle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9" name="Google Shape;139;p18"/>
          <p:cNvSpPr txBox="1"/>
          <p:nvPr>
            <p:ph idx="6" type="subTitle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40" name="Google Shape;140;p18"/>
          <p:cNvSpPr txBox="1"/>
          <p:nvPr>
            <p:ph idx="7" type="subTitle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41" name="Google Shape;141;p18"/>
          <p:cNvSpPr txBox="1"/>
          <p:nvPr>
            <p:ph idx="8" type="subTitle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/>
          <p:nvPr>
            <p:ph idx="1" type="subTitle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1" name="Google Shape;151;p1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2" type="subTitle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3" name="Google Shape;153;p19"/>
          <p:cNvSpPr txBox="1"/>
          <p:nvPr>
            <p:ph idx="3" type="subTitle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4" name="Google Shape;154;p19"/>
          <p:cNvSpPr txBox="1"/>
          <p:nvPr>
            <p:ph idx="4" type="subTitle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5" name="Google Shape;155;p19"/>
          <p:cNvSpPr txBox="1"/>
          <p:nvPr>
            <p:ph idx="5" type="subTitle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6" name="Google Shape;156;p19"/>
          <p:cNvSpPr txBox="1"/>
          <p:nvPr>
            <p:ph idx="6" type="subTitle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7" name="Google Shape;157;p19"/>
          <p:cNvSpPr txBox="1"/>
          <p:nvPr>
            <p:ph idx="7" type="subTitle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8" name="Google Shape;158;p19"/>
          <p:cNvSpPr txBox="1"/>
          <p:nvPr>
            <p:ph idx="8" type="subTitle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9" name="Google Shape;159;p19"/>
          <p:cNvSpPr txBox="1"/>
          <p:nvPr>
            <p:ph idx="9" type="subTitle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0" name="Google Shape;160;p19"/>
          <p:cNvSpPr txBox="1"/>
          <p:nvPr>
            <p:ph idx="13" type="subTitle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61" name="Google Shape;161;p19"/>
          <p:cNvSpPr txBox="1"/>
          <p:nvPr>
            <p:ph idx="14" type="subTitle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2" name="Google Shape;162;p19"/>
          <p:cNvSpPr txBox="1"/>
          <p:nvPr>
            <p:ph idx="15" type="subTitle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ight columns">
  <p:cSld name="CUSTOM_17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/>
          <p:nvPr>
            <p:ph idx="1" type="subTitle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69" name="Google Shape;169;p20"/>
          <p:cNvSpPr txBox="1"/>
          <p:nvPr>
            <p:ph idx="2" type="subTitle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0" name="Google Shape;170;p20"/>
          <p:cNvSpPr txBox="1"/>
          <p:nvPr>
            <p:ph idx="3" type="subTitle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1" name="Google Shape;171;p20"/>
          <p:cNvSpPr txBox="1"/>
          <p:nvPr>
            <p:ph idx="4" type="subTitle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2" name="Google Shape;172;p20"/>
          <p:cNvSpPr txBox="1"/>
          <p:nvPr>
            <p:ph idx="5" type="subTitle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3" name="Google Shape;173;p20"/>
          <p:cNvSpPr txBox="1"/>
          <p:nvPr>
            <p:ph idx="6" type="subTitle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4" name="Google Shape;174;p20"/>
          <p:cNvSpPr txBox="1"/>
          <p:nvPr>
            <p:ph idx="7" type="subTitle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5" name="Google Shape;175;p20"/>
          <p:cNvSpPr txBox="1"/>
          <p:nvPr>
            <p:ph idx="8" type="subTitle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6" name="Google Shape;176;p20"/>
          <p:cNvSpPr txBox="1"/>
          <p:nvPr>
            <p:ph idx="9" type="subTitle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7" name="Google Shape;177;p20"/>
          <p:cNvSpPr txBox="1"/>
          <p:nvPr>
            <p:ph idx="13" type="subTitle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8" name="Google Shape;178;p20"/>
          <p:cNvSpPr txBox="1"/>
          <p:nvPr>
            <p:ph idx="14" type="subTitle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9" name="Google Shape;179;p20"/>
          <p:cNvSpPr txBox="1"/>
          <p:nvPr>
            <p:ph idx="15" type="subTitle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0" name="Google Shape;180;p20"/>
          <p:cNvSpPr txBox="1"/>
          <p:nvPr>
            <p:ph idx="16" type="subTitle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1" name="Google Shape;181;p20"/>
          <p:cNvSpPr txBox="1"/>
          <p:nvPr>
            <p:ph idx="17" type="subTitle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2" name="Google Shape;182;p20"/>
          <p:cNvSpPr txBox="1"/>
          <p:nvPr>
            <p:ph idx="18" type="subTitle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3" name="Google Shape;183;p20"/>
          <p:cNvSpPr txBox="1"/>
          <p:nvPr>
            <p:ph idx="19" type="subTitle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6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1" type="subTitle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93" name="Google Shape;193;p21"/>
          <p:cNvSpPr/>
          <p:nvPr>
            <p:ph idx="2" type="pic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8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/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9" name="Google Shape;199;p22"/>
          <p:cNvSpPr txBox="1"/>
          <p:nvPr>
            <p:ph idx="1" type="subTitle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9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/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23"/>
          <p:cNvSpPr txBox="1"/>
          <p:nvPr>
            <p:ph idx="1" type="subTitle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0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" type="subTitle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8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4" name="Google Shape;224;p25"/>
          <p:cNvSpPr txBox="1"/>
          <p:nvPr>
            <p:ph idx="1" type="subTitle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20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3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4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57" name="Google Shape;257;p30"/>
          <p:cNvGrpSpPr/>
          <p:nvPr/>
        </p:nvGrpSpPr>
        <p:grpSpPr>
          <a:xfrm flipH="1" rot="5400000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7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/>
          <p:nvPr>
            <p:ph hasCustomPrompt="1" type="title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/>
          <p:nvPr>
            <p:ph idx="1" type="subTitle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31"/>
          <p:cNvSpPr txBox="1"/>
          <p:nvPr>
            <p:ph hasCustomPrompt="1" idx="2" type="title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/>
          <p:nvPr>
            <p:ph idx="3" type="subTitle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31"/>
          <p:cNvSpPr txBox="1"/>
          <p:nvPr>
            <p:ph hasCustomPrompt="1" idx="4" type="title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/>
          <p:nvPr>
            <p:ph idx="5" type="subTitle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9" name="Google Shape;269;p31"/>
          <p:cNvGrpSpPr/>
          <p:nvPr/>
        </p:nvGrpSpPr>
        <p:grpSpPr>
          <a:xfrm flipH="1" rot="5400000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/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7" name="Google Shape;277;p32"/>
          <p:cNvSpPr txBox="1"/>
          <p:nvPr>
            <p:ph idx="1" type="subTitle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/>
        </p:txBody>
      </p:sp>
      <p:grpSp>
        <p:nvGrpSpPr>
          <p:cNvPr id="278" name="Google Shape;278;p32"/>
          <p:cNvGrpSpPr/>
          <p:nvPr/>
        </p:nvGrpSpPr>
        <p:grpSpPr>
          <a:xfrm flipH="1" rot="10800000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9">
    <p:bg>
      <p:bgPr>
        <a:solidFill>
          <a:schemeClr val="accen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/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33"/>
          <p:cNvSpPr txBox="1"/>
          <p:nvPr>
            <p:ph idx="1" type="subTitle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b="1" sz="1467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21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22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/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/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306" name="Google Shape;306;p36"/>
          <p:cNvSpPr txBox="1"/>
          <p:nvPr>
            <p:ph idx="1" type="body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4400" dirty="0"/>
              <a:t>From Partners to Competitors: The Changing Nature of South Korea-China Trade</a:t>
            </a:r>
          </a:p>
        </p:txBody>
      </p:sp>
      <p:sp>
        <p:nvSpPr>
          <p:cNvPr id="315" name="Google Shape;315;p39"/>
          <p:cNvSpPr txBox="1"/>
          <p:nvPr>
            <p:ph idx="1" type="subTitle"/>
          </p:nvPr>
        </p:nvSpPr>
        <p:spPr>
          <a:xfrm>
            <a:off x="1271016" y="5257800"/>
            <a:ext cx="5943600" cy="548640"/>
          </a:xfr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2000" dirty="0"/>
              <a:t>Presenter Name | Course | Date</a:t>
            </a:r>
          </a:p>
        </p:txBody>
      </p:sp>
      <p:cxnSp>
        <p:nvCxnSpPr>
          <p:cNvPr id="316" name="Google Shape;316;p39"/>
          <p:cNvCxnSpPr/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cap="flat" cmpd="sng" w="12700">
            <a:solidFill>
              <a:srgbClr val="27272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17" name="Google Shape;317;p39"/>
          <p:cNvGrpSpPr/>
          <p:nvPr/>
        </p:nvGrpSpPr>
        <p:grpSpPr>
          <a:xfrm>
            <a:off x="9485233" y="0"/>
            <a:ext cx="2784400" cy="6858000"/>
            <a:chOff x="9485233" y="0"/>
            <a:chExt cx="2784400" cy="6858000"/>
          </a:xfrm>
        </p:grpSpPr>
        <p:sp>
          <p:nvSpPr>
            <p:cNvPr id="318" name="Google Shape;318;p39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19" name="Google Shape;319;p39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0" name="Google Shape;320;p39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Background: How the Relationship Developed</a:t>
            </a:r>
          </a:p>
        </p:txBody>
      </p:sp>
      <p:sp>
        <p:nvSpPr>
          <p:cNvPr id="2000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1992</a:t>
            </a:r>
          </a:p>
        </p:txBody>
      </p:sp>
      <p:sp>
        <p:nvSpPr>
          <p:cNvPr id="2001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$6.4B</a:t>
            </a:r>
          </a:p>
        </p:txBody>
      </p:sp>
      <p:sp>
        <p:nvSpPr>
          <p:cNvPr id="2002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Diplomatic ties established</a:t>
            </a:r>
          </a:p>
        </p:txBody>
      </p:sp>
      <p:sp>
        <p:nvSpPr>
          <p:cNvPr id="2003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2025</a:t>
            </a:r>
          </a:p>
        </p:txBody>
      </p:sp>
      <p:sp>
        <p:nvSpPr>
          <p:cNvPr id="2004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$273B</a:t>
            </a:r>
          </a:p>
        </p:txBody>
      </p:sp>
      <p:sp>
        <p:nvSpPr>
          <p:cNvPr id="2005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More than 40x the 1992 level</a:t>
            </a:r>
          </a:p>
        </p:txBody>
      </p:sp>
      <p:sp>
        <p:nvSpPr>
          <p:cNvPr id="2006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Trading partner</a:t>
            </a:r>
          </a:p>
        </p:txBody>
      </p:sp>
      <p:sp>
        <p:nvSpPr>
          <p:cNvPr id="2007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#1</a:t>
            </a:r>
          </a:p>
        </p:txBody>
      </p:sp>
      <p:sp>
        <p:nvSpPr>
          <p:cNvPr id="2008" name="Stat 3 caption"/>
          <p:cNvSpPr txBox="1"/>
          <p:nvPr/>
        </p:nvSpPr>
        <p:spPr>
          <a:xfrm>
            <a:off x="8046720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China's rank for Korea, 22 consecutive years</a:t>
            </a:r>
          </a:p>
        </p:txBody>
      </p:sp>
      <p:cxnSp>
        <p:nvCxnSpPr>
          <p:cNvPr id="2009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0" name="Flow heading"/>
          <p:cNvSpPr txBox="1"/>
          <p:nvPr/>
        </p:nvSpPr>
        <p:spPr>
          <a:xfrm>
            <a:off x="950976" y="3767328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A complementary production relationship</a:t>
            </a:r>
          </a:p>
        </p:txBody>
      </p:sp>
      <p:sp>
        <p:nvSpPr>
          <p:cNvPr id="2011" name="Flow step 1"/>
          <p:cNvSpPr/>
          <p:nvPr/>
        </p:nvSpPr>
        <p:spPr>
          <a:xfrm>
            <a:off x="950976" y="4206240"/>
            <a:ext cx="3246120" cy="17830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Intermediate goods: semiconductors, components, petrochemicals</a:t>
            </a:r>
          </a:p>
        </p:txBody>
      </p:sp>
      <p:cxnSp>
        <p:nvCxnSpPr>
          <p:cNvPr id="2012" name="Flow arrow 1"/>
          <p:cNvCxnSpPr/>
          <p:nvPr/>
        </p:nvCxnSpPr>
        <p:spPr>
          <a:xfrm>
            <a:off x="4270248" y="5097780"/>
            <a:ext cx="132588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13" name="Flow step 2"/>
          <p:cNvSpPr/>
          <p:nvPr/>
        </p:nvSpPr>
        <p:spPr>
          <a:xfrm>
            <a:off x="4475988" y="4206240"/>
            <a:ext cx="3246120" cy="17830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Assembly into finished goods, incl. in Korean-built factories</a:t>
            </a:r>
          </a:p>
        </p:txBody>
      </p:sp>
      <p:cxnSp>
        <p:nvCxnSpPr>
          <p:cNvPr id="2014" name="Flow arrow 2"/>
          <p:cNvCxnSpPr/>
          <p:nvPr/>
        </p:nvCxnSpPr>
        <p:spPr>
          <a:xfrm>
            <a:off x="7795260" y="5097780"/>
            <a:ext cx="132588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15" name="Flow step 3"/>
          <p:cNvSpPr/>
          <p:nvPr/>
        </p:nvSpPr>
        <p:spPr>
          <a:xfrm>
            <a:off x="8001000" y="4206240"/>
            <a:ext cx="3246120" cy="17830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37160" tIns="137160" rIns="137160" bIns="13716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Domestic &amp; global markets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Finished products sold in China and worldwide</a:t>
            </a:r>
          </a:p>
        </p:txBody>
      </p:sp>
      <p:sp>
        <p:nvSpPr>
          <p:cNvPr id="2016" name="Transition line"/>
          <p:cNvSpPr txBox="1"/>
          <p:nvPr/>
        </p:nvSpPr>
        <p:spPr>
          <a:xfrm>
            <a:off x="950976" y="617220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China's own industrial capabilities have expanded, and the relationship is evolving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Changing Korea-China Trade Relationship</a:t>
            </a:r>
          </a:p>
        </p:txBody>
      </p:sp>
      <p:sp>
        <p:nvSpPr>
          <p:cNvPr id="2017" name="From box"/>
          <p:cNvSpPr/>
          <p:nvPr/>
        </p:nvSpPr>
        <p:spPr>
          <a:xfrm>
            <a:off x="950976" y="1600200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Complementary production</a:t>
            </a:r>
          </a:p>
        </p:txBody>
      </p:sp>
      <p:sp>
        <p:nvSpPr>
          <p:cNvPr id="2018" name="To box"/>
          <p:cNvSpPr/>
          <p:nvPr/>
        </p:nvSpPr>
        <p:spPr>
          <a:xfrm>
            <a:off x="8046720" y="1600200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Greater competition</a:t>
            </a:r>
          </a:p>
        </p:txBody>
      </p:sp>
      <p:cxnSp>
        <p:nvCxnSpPr>
          <p:cNvPr id="2019" name="Shift arrow"/>
          <p:cNvCxnSpPr/>
          <p:nvPr/>
        </p:nvCxnSpPr>
        <p:spPr>
          <a:xfrm>
            <a:off x="4288536" y="2034540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0" name="Shift driver"/>
          <p:cNvSpPr txBox="1"/>
          <p:nvPr/>
        </p:nvSpPr>
        <p:spPr>
          <a:xfrm>
            <a:off x="4242816" y="1481328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Made in China 2025</a:t>
            </a:r>
          </a:p>
        </p:txBody>
      </p:sp>
      <p:sp>
        <p:nvSpPr>
          <p:cNvPr id="2021" name="Shift driver detail"/>
          <p:cNvSpPr txBox="1"/>
          <p:nvPr/>
        </p:nvSpPr>
        <p:spPr>
          <a:xfrm>
            <a:off x="4242816" y="2130552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 · robotics · EVs</a:t>
            </a:r>
          </a:p>
        </p:txBody>
      </p:sp>
      <p:sp>
        <p:nvSpPr>
          <p:cNvPr id="2022" name="From caption"/>
          <p:cNvSpPr txBox="1"/>
          <p:nvPr/>
        </p:nvSpPr>
        <p:spPr>
          <a:xfrm>
            <a:off x="950976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Korea supplied inputs; China assembled</a:t>
            </a:r>
          </a:p>
        </p:txBody>
      </p:sp>
      <p:sp>
        <p:nvSpPr>
          <p:cNvPr id="2023" name="To caption"/>
          <p:cNvSpPr txBox="1"/>
          <p:nvPr/>
        </p:nvSpPr>
        <p:spPr>
          <a:xfrm>
            <a:off x="8046720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Chinese firms now make goods Korea once supplied</a:t>
            </a:r>
          </a:p>
        </p:txBody>
      </p:sp>
      <p:cxnSp>
        <p:nvCxnSpPr>
          <p:cNvPr id="2024" name="Timeline axis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5" name="Timeline marker 1"/>
          <p:cNvSpPr/>
          <p:nvPr/>
        </p:nvSpPr>
        <p:spPr>
          <a:xfrm>
            <a:off x="950976" y="3511296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26" name="Timeline year 1"/>
          <p:cNvSpPr txBox="1"/>
          <p:nvPr/>
        </p:nvSpPr>
        <p:spPr>
          <a:xfrm>
            <a:off x="950976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2015</a:t>
            </a:r>
          </a:p>
        </p:txBody>
      </p:sp>
      <p:sp>
        <p:nvSpPr>
          <p:cNvPr id="2027" name="Timeline text 1"/>
          <p:cNvSpPr txBox="1"/>
          <p:nvPr/>
        </p:nvSpPr>
        <p:spPr>
          <a:xfrm>
            <a:off x="950976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Made in China 2025: less reliance on foreign tech</a:t>
            </a:r>
          </a:p>
        </p:txBody>
      </p:sp>
      <p:sp>
        <p:nvSpPr>
          <p:cNvPr id="2028" name="Timeline marker 2"/>
          <p:cNvSpPr/>
          <p:nvPr/>
        </p:nvSpPr>
        <p:spPr>
          <a:xfrm>
            <a:off x="3525012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29" name="Timeline year 2"/>
          <p:cNvSpPr txBox="1"/>
          <p:nvPr/>
        </p:nvSpPr>
        <p:spPr>
          <a:xfrm>
            <a:off x="3525012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2023</a:t>
            </a:r>
          </a:p>
        </p:txBody>
      </p:sp>
      <p:sp>
        <p:nvSpPr>
          <p:cNvPr id="2030" name="Timeline text 2"/>
          <p:cNvSpPr txBox="1"/>
          <p:nvPr/>
        </p:nvSpPr>
        <p:spPr>
          <a:xfrm>
            <a:off x="3525012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First annual deficit with China in 30+ years</a:t>
            </a:r>
          </a:p>
        </p:txBody>
      </p:sp>
      <p:sp>
        <p:nvSpPr>
          <p:cNvPr id="2031" name="Timeline marker 3"/>
          <p:cNvSpPr/>
          <p:nvPr/>
        </p:nvSpPr>
        <p:spPr>
          <a:xfrm>
            <a:off x="6099048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2" name="Timeline year 3"/>
          <p:cNvSpPr txBox="1"/>
          <p:nvPr/>
        </p:nvSpPr>
        <p:spPr>
          <a:xfrm>
            <a:off x="6099048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Through 2025</a:t>
            </a:r>
          </a:p>
        </p:txBody>
      </p:sp>
      <p:sp>
        <p:nvSpPr>
          <p:cNvPr id="2033" name="Timeline text 3"/>
          <p:cNvSpPr txBox="1"/>
          <p:nvPr/>
        </p:nvSpPr>
        <p:spPr>
          <a:xfrm>
            <a:off x="6099048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Deficit continues (weaker chip demand also a factor)</a:t>
            </a:r>
          </a:p>
        </p:txBody>
      </p:sp>
      <p:sp>
        <p:nvSpPr>
          <p:cNvPr id="2034" name="Timeline marker 4"/>
          <p:cNvSpPr/>
          <p:nvPr/>
        </p:nvSpPr>
        <p:spPr>
          <a:xfrm>
            <a:off x="8673084" y="3511296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5" name="Timeline year 4"/>
          <p:cNvSpPr txBox="1"/>
          <p:nvPr/>
        </p:nvSpPr>
        <p:spPr>
          <a:xfrm>
            <a:off x="8673084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2026 (Jan–Aug)</a:t>
            </a:r>
          </a:p>
        </p:txBody>
      </p:sp>
      <p:sp>
        <p:nvSpPr>
          <p:cNvPr id="2036" name="Timeline text 4"/>
          <p:cNvSpPr txBox="1"/>
          <p:nvPr/>
        </p:nvSpPr>
        <p:spPr>
          <a:xfrm>
            <a:off x="8673084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Surplus in the first 8 months: competition ≠ less trade</a:t>
            </a:r>
          </a:p>
        </p:txBody>
      </p:sp>
      <p:sp>
        <p:nvSpPr>
          <p:cNvPr id="2037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complementary to competitive,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 through trade</a:t>
            </a:r>
          </a:p>
        </p:txBody>
      </p:sp>
      <p:sp>
        <p:nvSpPr>
          <p:cNvPr id="2038" name="Next topic"/>
          <p:cNvSpPr txBox="1"/>
          <p:nvPr/>
        </p:nvSpPr>
        <p:spPr>
          <a:xfrm>
            <a:off x="7132320" y="617220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semiconductor industry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