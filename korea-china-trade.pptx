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  <p:sldMasterId id="2147483685" r:id="rId2"/>
  </p:sldMasterIdLst>
  <p:notesMasterIdLst>
    <p:notesMasterId r:id="rId8"/>
  </p:notesMasterIdLst>
  <p:sldIdLst>
    <p:sldId id="256" r:id="rId3"/>
    <p:sldId id="263" r:id="rId4"/>
    <p:sldId id="266" r:id="rId5"/>
    <p:sldId id="264" r:id="rId6"/>
    <p:sldId id="286" r:id="rId7"/>
    <p:sldId id="287" r:id="rId29"/>
    <p:sldId id="288" r:id="rId30"/>
    <p:sldId id="289" r:id="rId31"/>
  </p:sldIdLst>
  <p:sldSz cx="12192000" cy="6858000"/>
  <p:notesSz cx="6858000" cy="9144000"/>
  <p:embeddedFontLst>
    <p:embeddedFont>
      <p:font typeface="Albert Sans" pitchFamily="2" charset="77"/>
      <p:regular r:id="rId9"/>
      <p:bold r:id="rId10"/>
      <p:italic r:id="rId11"/>
      <p:boldItalic r:id="rId12"/>
    </p:embeddedFont>
    <p:embeddedFont>
      <p:font typeface="Anek Bangla" pitchFamily="2" charset="0"/>
      <p:regular r:id="rId13"/>
      <p:bold r:id="rId14"/>
    </p:embeddedFont>
    <p:embeddedFont>
      <p:font typeface="Anek Bangla Medium" pitchFamily="2" charset="0"/>
      <p:regular r:id="rId15"/>
      <p:bold r:id="rId16"/>
    </p:embeddedFont>
    <p:embeddedFont>
      <p:font typeface="Proxima Nova" panose="02000506030000020004" pitchFamily="2" charset="0"/>
      <p:regular r:id="rId17"/>
      <p:bold r:id="rId18"/>
      <p:italic r:id="rId19"/>
      <p:boldItalic r:id="rId20"/>
    </p:embeddedFont>
    <p:embeddedFont>
      <p:font typeface="Proxima Nova Semibold" panose="02000506030000020004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73"/>
  </p:normalViewPr>
  <p:slideViewPr>
    <p:cSldViewPr snapToGrid="0">
      <p:cViewPr varScale="1">
        <p:scale>
          <a:sx n="115" d="100"/>
          <a:sy n="115" d="100"/>
        </p:scale>
        <p:origin x="49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13.fntdata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24" Type="http://schemas.openxmlformats.org/officeDocument/2006/relationships/font" Target="fonts/font16.fntdata"/><Relationship Id="rId5" Type="http://schemas.openxmlformats.org/officeDocument/2006/relationships/slide" Target="slides/slide3.xml"/><Relationship Id="rId15" Type="http://schemas.openxmlformats.org/officeDocument/2006/relationships/font" Target="fonts/font7.fntdata"/><Relationship Id="rId23" Type="http://schemas.openxmlformats.org/officeDocument/2006/relationships/font" Target="fonts/font15.fntdata"/><Relationship Id="rId28" Type="http://schemas.openxmlformats.org/officeDocument/2006/relationships/tableStyles" Target="tableStyle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font" Target="fonts/font14.fntdata"/><Relationship Id="rId27" Type="http://schemas.openxmlformats.org/officeDocument/2006/relationships/theme" Target="theme/theme1.xml"/>  <Relationship Id="rId29" Type="http://schemas.openxmlformats.org/officeDocument/2006/relationships/slide" Target="slides/slide6.xml"/>
  <Relationship Id="rId30" Type="http://schemas.openxmlformats.org/officeDocument/2006/relationships/slide" Target="slides/slide7.xml"/>
  <Relationship Id="rId31" Type="http://schemas.openxmlformats.org/officeDocument/2006/relationships/slide" Target="slides/slide8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9a3c2a2d37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9a3c2a2d37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29a3c2a2d37_0_18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29a3c2a2d37_0_18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2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2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>
            <a:spLocks noGrp="1"/>
          </p:cNvSpPr>
          <p:nvPr>
            <p:ph type="pic" idx="2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>
            <a:spLocks noGrp="1"/>
          </p:cNvSpPr>
          <p:nvPr>
            <p:ph type="body" idx="1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subTitle" idx="1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grpSp>
        <p:nvGrpSpPr>
          <p:cNvPr id="61" name="Google Shape;61;p11"/>
          <p:cNvGrpSpPr/>
          <p:nvPr/>
        </p:nvGrpSpPr>
        <p:grpSpPr>
          <a:xfrm rot="5400000" flipH="1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6">
    <p:bg>
      <p:bgPr>
        <a:solidFill>
          <a:schemeClr val="accent5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>
            <a:spLocks noGrp="1"/>
          </p:cNvSpPr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title" idx="2" hasCustomPrompt="1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>
            <a:spLocks noGrp="1"/>
          </p:cNvSpPr>
          <p:nvPr>
            <p:ph type="subTitle" idx="1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subTitle" idx="2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subTitle" idx="3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ubTitle" idx="4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subTitle" idx="5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subTitle" idx="6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>
            <a:spLocks noGrp="1"/>
          </p:cNvSpPr>
          <p:nvPr>
            <p:ph type="title" hasCustomPrompt="1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>
            <a:spLocks noGrp="1"/>
          </p:cNvSpPr>
          <p:nvPr>
            <p:ph type="title" idx="7" hasCustomPrompt="1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>
            <a:spLocks noGrp="1"/>
          </p:cNvSpPr>
          <p:nvPr>
            <p:ph type="title" idx="8" hasCustomPrompt="1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>
            <a:spLocks noGrp="1"/>
          </p:cNvSpPr>
          <p:nvPr>
            <p:ph type="title" idx="9" hasCustomPrompt="1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>
            <a:spLocks noGrp="1"/>
          </p:cNvSpPr>
          <p:nvPr>
            <p:ph type="title" idx="13" hasCustomPrompt="1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>
            <a:spLocks noGrp="1"/>
          </p:cNvSpPr>
          <p:nvPr>
            <p:ph type="title" idx="14" hasCustomPrompt="1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>
            <a:spLocks noGrp="1"/>
          </p:cNvSpPr>
          <p:nvPr>
            <p:ph type="title" idx="15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>
            <a:spLocks noGrp="1"/>
          </p:cNvSpPr>
          <p:nvPr>
            <p:ph type="subTitle" idx="1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5"/>
          <p:cNvSpPr txBox="1">
            <a:spLocks noGrp="1"/>
          </p:cNvSpPr>
          <p:nvPr>
            <p:ph type="subTitle" idx="2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subTitle" idx="3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0" name="Google Shape;100;p15"/>
          <p:cNvSpPr txBox="1">
            <a:spLocks noGrp="1"/>
          </p:cNvSpPr>
          <p:nvPr>
            <p:ph type="subTitle" idx="4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2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>
            <a:spLocks noGrp="1"/>
          </p:cNvSpPr>
          <p:nvPr>
            <p:ph type="subTitle" idx="1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9" name="Google Shape;109;p1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6"/>
          <p:cNvSpPr txBox="1">
            <a:spLocks noGrp="1"/>
          </p:cNvSpPr>
          <p:nvPr>
            <p:ph type="subTitle" idx="2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subTitle" idx="3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2" name="Google Shape;112;p16"/>
          <p:cNvSpPr txBox="1">
            <a:spLocks noGrp="1"/>
          </p:cNvSpPr>
          <p:nvPr>
            <p:ph type="subTitle" idx="4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3" name="Google Shape;113;p16"/>
          <p:cNvSpPr txBox="1">
            <a:spLocks noGrp="1"/>
          </p:cNvSpPr>
          <p:nvPr>
            <p:ph type="subTitle" idx="5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subTitle" idx="6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15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>
            <a:spLocks noGrp="1"/>
          </p:cNvSpPr>
          <p:nvPr>
            <p:ph type="subTitle" idx="1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0" name="Google Shape;120;p1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subTitle" idx="2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subTitle" idx="3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subTitle" idx="4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4" name="Google Shape;124;p17"/>
          <p:cNvSpPr txBox="1">
            <a:spLocks noGrp="1"/>
          </p:cNvSpPr>
          <p:nvPr>
            <p:ph type="subTitle" idx="5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5" name="Google Shape;125;p17"/>
          <p:cNvSpPr txBox="1">
            <a:spLocks noGrp="1"/>
          </p:cNvSpPr>
          <p:nvPr>
            <p:ph type="subTitle" idx="6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3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4" name="Google Shape;134;p1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8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36" name="Google Shape;136;p18"/>
          <p:cNvSpPr txBox="1">
            <a:spLocks noGrp="1"/>
          </p:cNvSpPr>
          <p:nvPr>
            <p:ph type="subTitle" idx="3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7" name="Google Shape;137;p18"/>
          <p:cNvSpPr txBox="1">
            <a:spLocks noGrp="1"/>
          </p:cNvSpPr>
          <p:nvPr>
            <p:ph type="subTitle" idx="4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subTitle" idx="5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9" name="Google Shape;139;p18"/>
          <p:cNvSpPr txBox="1">
            <a:spLocks noGrp="1"/>
          </p:cNvSpPr>
          <p:nvPr>
            <p:ph type="subTitle" idx="6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40" name="Google Shape;140;p18"/>
          <p:cNvSpPr txBox="1">
            <a:spLocks noGrp="1"/>
          </p:cNvSpPr>
          <p:nvPr>
            <p:ph type="subTitle" idx="7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41" name="Google Shape;141;p18"/>
          <p:cNvSpPr txBox="1">
            <a:spLocks noGrp="1"/>
          </p:cNvSpPr>
          <p:nvPr>
            <p:ph type="subTitle" idx="8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4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1" name="Google Shape;151;p1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9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3" name="Google Shape;153;p19"/>
          <p:cNvSpPr txBox="1">
            <a:spLocks noGrp="1"/>
          </p:cNvSpPr>
          <p:nvPr>
            <p:ph type="subTitle" idx="3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4" name="Google Shape;154;p19"/>
          <p:cNvSpPr txBox="1">
            <a:spLocks noGrp="1"/>
          </p:cNvSpPr>
          <p:nvPr>
            <p:ph type="subTitle" idx="4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5" name="Google Shape;155;p19"/>
          <p:cNvSpPr txBox="1">
            <a:spLocks noGrp="1"/>
          </p:cNvSpPr>
          <p:nvPr>
            <p:ph type="subTitle" idx="5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6" name="Google Shape;156;p19"/>
          <p:cNvSpPr txBox="1">
            <a:spLocks noGrp="1"/>
          </p:cNvSpPr>
          <p:nvPr>
            <p:ph type="subTitle" idx="6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7" name="Google Shape;157;p19"/>
          <p:cNvSpPr txBox="1">
            <a:spLocks noGrp="1"/>
          </p:cNvSpPr>
          <p:nvPr>
            <p:ph type="subTitle" idx="7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8" name="Google Shape;158;p19"/>
          <p:cNvSpPr txBox="1">
            <a:spLocks noGrp="1"/>
          </p:cNvSpPr>
          <p:nvPr>
            <p:ph type="subTitle" idx="8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9" name="Google Shape;159;p19"/>
          <p:cNvSpPr txBox="1">
            <a:spLocks noGrp="1"/>
          </p:cNvSpPr>
          <p:nvPr>
            <p:ph type="subTitle" idx="9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0" name="Google Shape;160;p19"/>
          <p:cNvSpPr txBox="1">
            <a:spLocks noGrp="1"/>
          </p:cNvSpPr>
          <p:nvPr>
            <p:ph type="subTitle" idx="13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61" name="Google Shape;161;p19"/>
          <p:cNvSpPr txBox="1">
            <a:spLocks noGrp="1"/>
          </p:cNvSpPr>
          <p:nvPr>
            <p:ph type="subTitle" idx="14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2" name="Google Shape;162;p19"/>
          <p:cNvSpPr txBox="1">
            <a:spLocks noGrp="1"/>
          </p:cNvSpPr>
          <p:nvPr>
            <p:ph type="subTitle" idx="15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eight columns">
  <p:cSld name="CUSTOM_17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8" name="Google Shape;168;p2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0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0" name="Google Shape;170;p20"/>
          <p:cNvSpPr txBox="1">
            <a:spLocks noGrp="1"/>
          </p:cNvSpPr>
          <p:nvPr>
            <p:ph type="subTitle" idx="3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1" name="Google Shape;171;p20"/>
          <p:cNvSpPr txBox="1">
            <a:spLocks noGrp="1"/>
          </p:cNvSpPr>
          <p:nvPr>
            <p:ph type="subTitle" idx="4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2" name="Google Shape;172;p20"/>
          <p:cNvSpPr txBox="1">
            <a:spLocks noGrp="1"/>
          </p:cNvSpPr>
          <p:nvPr>
            <p:ph type="subTitle" idx="5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3" name="Google Shape;173;p20"/>
          <p:cNvSpPr txBox="1">
            <a:spLocks noGrp="1"/>
          </p:cNvSpPr>
          <p:nvPr>
            <p:ph type="subTitle" idx="6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4" name="Google Shape;174;p20"/>
          <p:cNvSpPr txBox="1">
            <a:spLocks noGrp="1"/>
          </p:cNvSpPr>
          <p:nvPr>
            <p:ph type="subTitle" idx="7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5" name="Google Shape;175;p20"/>
          <p:cNvSpPr txBox="1">
            <a:spLocks noGrp="1"/>
          </p:cNvSpPr>
          <p:nvPr>
            <p:ph type="subTitle" idx="8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6" name="Google Shape;176;p20"/>
          <p:cNvSpPr txBox="1">
            <a:spLocks noGrp="1"/>
          </p:cNvSpPr>
          <p:nvPr>
            <p:ph type="subTitle" idx="9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7" name="Google Shape;177;p20"/>
          <p:cNvSpPr txBox="1">
            <a:spLocks noGrp="1"/>
          </p:cNvSpPr>
          <p:nvPr>
            <p:ph type="subTitle" idx="13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8" name="Google Shape;178;p20"/>
          <p:cNvSpPr txBox="1">
            <a:spLocks noGrp="1"/>
          </p:cNvSpPr>
          <p:nvPr>
            <p:ph type="subTitle" idx="14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9" name="Google Shape;179;p20"/>
          <p:cNvSpPr txBox="1">
            <a:spLocks noGrp="1"/>
          </p:cNvSpPr>
          <p:nvPr>
            <p:ph type="subTitle" idx="15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80" name="Google Shape;180;p20"/>
          <p:cNvSpPr txBox="1">
            <a:spLocks noGrp="1"/>
          </p:cNvSpPr>
          <p:nvPr>
            <p:ph type="subTitle" idx="16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1" name="Google Shape;181;p20"/>
          <p:cNvSpPr txBox="1">
            <a:spLocks noGrp="1"/>
          </p:cNvSpPr>
          <p:nvPr>
            <p:ph type="subTitle" idx="17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82" name="Google Shape;182;p20"/>
          <p:cNvSpPr txBox="1">
            <a:spLocks noGrp="1"/>
          </p:cNvSpPr>
          <p:nvPr>
            <p:ph type="subTitle" idx="18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3" name="Google Shape;183;p20"/>
          <p:cNvSpPr txBox="1">
            <a:spLocks noGrp="1"/>
          </p:cNvSpPr>
          <p:nvPr>
            <p:ph type="subTitle" idx="19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6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>
            <a:spLocks noGrp="1"/>
          </p:cNvSpPr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1"/>
          <p:cNvSpPr txBox="1">
            <a:spLocks noGrp="1"/>
          </p:cNvSpPr>
          <p:nvPr>
            <p:ph type="subTitle" idx="1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93" name="Google Shape;193;p21"/>
          <p:cNvSpPr>
            <a:spLocks noGrp="1"/>
          </p:cNvSpPr>
          <p:nvPr>
            <p:ph type="pic" idx="2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8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>
            <a:spLocks noGrp="1"/>
          </p:cNvSpPr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2"/>
          <p:cNvSpPr txBox="1">
            <a:spLocks noGrp="1"/>
          </p:cNvSpPr>
          <p:nvPr>
            <p:ph type="subTitle" idx="1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9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>
            <a:spLocks noGrp="1"/>
          </p:cNvSpPr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3"/>
          <p:cNvSpPr txBox="1">
            <a:spLocks noGrp="1"/>
          </p:cNvSpPr>
          <p:nvPr>
            <p:ph type="subTitle" idx="1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0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>
            <a:spLocks noGrp="1"/>
          </p:cNvSpPr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4"/>
          <p:cNvSpPr txBox="1">
            <a:spLocks noGrp="1"/>
          </p:cNvSpPr>
          <p:nvPr>
            <p:ph type="subTitle" idx="1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18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>
            <a:spLocks noGrp="1"/>
          </p:cNvSpPr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25"/>
          <p:cNvSpPr txBox="1">
            <a:spLocks noGrp="1"/>
          </p:cNvSpPr>
          <p:nvPr>
            <p:ph type="subTitle" idx="1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20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6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2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3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4"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57" name="Google Shape;257;p30"/>
          <p:cNvGrpSpPr/>
          <p:nvPr/>
        </p:nvGrpSpPr>
        <p:grpSpPr>
          <a:xfrm rot="5400000" flipH="1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7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>
            <a:spLocks noGrp="1"/>
          </p:cNvSpPr>
          <p:nvPr>
            <p:ph type="title" hasCustomPrompt="1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>
            <a:spLocks noGrp="1"/>
          </p:cNvSpPr>
          <p:nvPr>
            <p:ph type="subTitle" idx="1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31"/>
          <p:cNvSpPr txBox="1">
            <a:spLocks noGrp="1"/>
          </p:cNvSpPr>
          <p:nvPr>
            <p:ph type="title" idx="2" hasCustomPrompt="1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>
            <a:spLocks noGrp="1"/>
          </p:cNvSpPr>
          <p:nvPr>
            <p:ph type="subTitle" idx="3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4" hasCustomPrompt="1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>
            <a:spLocks noGrp="1"/>
          </p:cNvSpPr>
          <p:nvPr>
            <p:ph type="subTitle" idx="5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69" name="Google Shape;269;p31"/>
          <p:cNvGrpSpPr/>
          <p:nvPr/>
        </p:nvGrpSpPr>
        <p:grpSpPr>
          <a:xfrm rot="5400000" flipH="1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5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>
            <a:spLocks noGrp="1"/>
          </p:cNvSpPr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grpSp>
        <p:nvGrpSpPr>
          <p:cNvPr id="278" name="Google Shape;278;p32"/>
          <p:cNvGrpSpPr/>
          <p:nvPr/>
        </p:nvGrpSpPr>
        <p:grpSpPr>
          <a:xfrm rot="10800000" flipH="1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9">
    <p:bg>
      <p:bgPr>
        <a:solidFill>
          <a:schemeClr val="accent2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>
            <a:spLocks noGrp="1"/>
          </p:cNvSpPr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subTitle" idx="1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sz="1467" b="1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1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2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06" name="Google Shape;306;p36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2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>
            <a:spLocks noGrp="1"/>
          </p:cNvSpPr>
          <p:nvPr>
            <p:ph type="ctrTitle"/>
          </p:nvPr>
        </p:nvSpPr>
        <p:spPr>
          <a:xfrm>
            <a:off x="1089915" y="1039203"/>
            <a:ext cx="4676664" cy="3864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Partners to Competitors: The Changing Nature of South Korea-China Trade</a:t>
            </a:r>
          </a:p>
        </p:txBody>
      </p:sp>
      <p:sp>
        <p:nvSpPr>
          <p:cNvPr id="315" name="Google Shape;315;p39"/>
          <p:cNvSpPr txBox="1">
            <a:spLocks noGrp="1"/>
          </p:cNvSpPr>
          <p:nvPr>
            <p:ph type="subTitle" idx="1"/>
          </p:nvPr>
        </p:nvSpPr>
        <p:spPr>
          <a:xfrm>
            <a:off x="1034212" y="5257800"/>
            <a:ext cx="5943600" cy="548640"/>
          </a:xfr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Andrew Youngmin Cho</a:t>
            </a:r>
          </a:p>
        </p:txBody>
      </p:sp>
      <p:cxnSp>
        <p:nvCxnSpPr>
          <p:cNvPr id="316" name="Google Shape;316;p39"/>
          <p:cNvCxnSpPr>
            <a:cxnSpLocks/>
          </p:cNvCxnSpPr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w="12700" cap="flat" cmpd="sng">
            <a:solidFill>
              <a:srgbClr val="272727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6BB0B54F-5869-0C01-4D66-14EB309CF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696" y="968950"/>
            <a:ext cx="5929964" cy="38639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conomy 1">
            <a:extLst>
              <a:ext uri="{FF2B5EF4-FFF2-40B4-BE49-F238E27FC236}">
                <a16:creationId xmlns:a16="http://schemas.microsoft.com/office/drawing/2014/main" id="{DD976275-C300-60F6-3FE0-69DB80865A4A}"/>
              </a:ext>
            </a:extLst>
          </p:cNvPr>
          <p:cNvSpPr/>
          <p:nvPr/>
        </p:nvSpPr>
        <p:spPr>
          <a:xfrm>
            <a:off x="1" y="401451"/>
            <a:ext cx="11240976" cy="101587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endParaRPr lang="en-US" sz="2000" b="1" dirty="0">
              <a:solidFill>
                <a:schemeClr val="lt1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395" name="Google Shape;395;p46"/>
          <p:cNvSpPr txBox="1">
            <a:spLocks noGrp="1"/>
          </p:cNvSpPr>
          <p:nvPr>
            <p:ph type="title"/>
          </p:nvPr>
        </p:nvSpPr>
        <p:spPr>
          <a:xfrm>
            <a:off x="950976" y="489129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Background: How the Relationship Began</a:t>
            </a:r>
          </a:p>
        </p:txBody>
      </p:sp>
      <p:sp>
        <p:nvSpPr>
          <p:cNvPr id="2000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1992</a:t>
            </a:r>
          </a:p>
        </p:txBody>
      </p:sp>
      <p:sp>
        <p:nvSpPr>
          <p:cNvPr id="2001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$6.4B</a:t>
            </a:r>
          </a:p>
        </p:txBody>
      </p:sp>
      <p:sp>
        <p:nvSpPr>
          <p:cNvPr id="2002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Diplomatic ties established</a:t>
            </a:r>
          </a:p>
        </p:txBody>
      </p:sp>
      <p:sp>
        <p:nvSpPr>
          <p:cNvPr id="2003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2025</a:t>
            </a:r>
          </a:p>
        </p:txBody>
      </p:sp>
      <p:sp>
        <p:nvSpPr>
          <p:cNvPr id="2004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$273B</a:t>
            </a:r>
          </a:p>
        </p:txBody>
      </p:sp>
      <p:sp>
        <p:nvSpPr>
          <p:cNvPr id="2005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More than 40x the 1992 level</a:t>
            </a:r>
          </a:p>
        </p:txBody>
      </p:sp>
      <p:sp>
        <p:nvSpPr>
          <p:cNvPr id="2006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Trading partner</a:t>
            </a:r>
          </a:p>
        </p:txBody>
      </p:sp>
      <p:sp>
        <p:nvSpPr>
          <p:cNvPr id="2007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#1</a:t>
            </a:r>
          </a:p>
        </p:txBody>
      </p:sp>
      <p:cxnSp>
        <p:nvCxnSpPr>
          <p:cNvPr id="2009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0" name="Flow heading"/>
          <p:cNvSpPr txBox="1"/>
          <p:nvPr/>
        </p:nvSpPr>
        <p:spPr>
          <a:xfrm>
            <a:off x="950976" y="376732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Historically a vertically complementary production relationship</a:t>
            </a:r>
          </a:p>
        </p:txBody>
      </p:sp>
      <p:sp>
        <p:nvSpPr>
          <p:cNvPr id="2011" name="Economy 1"/>
          <p:cNvSpPr/>
          <p:nvPr/>
        </p:nvSpPr>
        <p:spPr>
          <a:xfrm>
            <a:off x="950976" y="4224527"/>
            <a:ext cx="3429000" cy="2232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Higher-value intermediate goods: semiconductors, electronic components, petrochemicals</a:t>
            </a:r>
          </a:p>
        </p:txBody>
      </p:sp>
      <p:sp>
        <p:nvSpPr>
          <p:cNvPr id="2012" name="Economy 2"/>
          <p:cNvSpPr/>
          <p:nvPr/>
        </p:nvSpPr>
        <p:spPr>
          <a:xfrm>
            <a:off x="7818120" y="4224527"/>
            <a:ext cx="3429000" cy="223201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Imported them to make finished products: automobiles, consumer electronics</a:t>
            </a:r>
          </a:p>
        </p:txBody>
      </p:sp>
      <p:cxnSp>
        <p:nvCxnSpPr>
          <p:cNvPr id="2013" name="Arrow: components to China"/>
          <p:cNvCxnSpPr/>
          <p:nvPr/>
        </p:nvCxnSpPr>
        <p:spPr>
          <a:xfrm>
            <a:off x="4486656" y="5029198"/>
            <a:ext cx="3218688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 w="med" len="med"/>
          </a:ln>
        </p:spPr>
      </p:cxnSp>
      <p:sp>
        <p:nvSpPr>
          <p:cNvPr id="2014" name="Label: components"/>
          <p:cNvSpPr txBox="1"/>
          <p:nvPr/>
        </p:nvSpPr>
        <p:spPr>
          <a:xfrm>
            <a:off x="4376928" y="4571998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Components &amp; technology</a:t>
            </a:r>
          </a:p>
        </p:txBody>
      </p:sp>
      <p:cxnSp>
        <p:nvCxnSpPr>
          <p:cNvPr id="2015" name="Arrow: market access to Korea"/>
          <p:cNvCxnSpPr/>
          <p:nvPr/>
        </p:nvCxnSpPr>
        <p:spPr>
          <a:xfrm flipH="1">
            <a:off x="4486656" y="5650990"/>
            <a:ext cx="3218688" cy="0"/>
          </a:xfrm>
          <a:prstGeom prst="straightConnector1">
            <a:avLst/>
          </a:prstGeom>
          <a:ln w="28575">
            <a:solidFill>
              <a:schemeClr val="dk2"/>
            </a:solidFill>
            <a:tailEnd type="triangle" w="med" len="med"/>
          </a:ln>
        </p:spPr>
      </p:cxnSp>
      <p:sp>
        <p:nvSpPr>
          <p:cNvPr id="2016" name="Label: market access"/>
          <p:cNvSpPr txBox="1"/>
          <p:nvPr/>
        </p:nvSpPr>
        <p:spPr>
          <a:xfrm>
            <a:off x="4376928" y="5724142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Access to a vast market</a:t>
            </a:r>
          </a:p>
        </p:txBody>
      </p:sp>
      <p:sp>
        <p:nvSpPr>
          <p:cNvPr id="2" name="Stat 3 caption">
            <a:extLst>
              <a:ext uri="{FF2B5EF4-FFF2-40B4-BE49-F238E27FC236}">
                <a16:creationId xmlns:a16="http://schemas.microsoft.com/office/drawing/2014/main" id="{63B745DF-1660-5495-4FB5-93297EE2DD4D}"/>
              </a:ext>
            </a:extLst>
          </p:cNvPr>
          <p:cNvSpPr txBox="1"/>
          <p:nvPr/>
        </p:nvSpPr>
        <p:spPr>
          <a:xfrm>
            <a:off x="8040566" y="2655775"/>
            <a:ext cx="3333677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South Korea’s largest trading partner for 22 consecutive years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conomy 1">
            <a:extLst>
              <a:ext uri="{FF2B5EF4-FFF2-40B4-BE49-F238E27FC236}">
                <a16:creationId xmlns:a16="http://schemas.microsoft.com/office/drawing/2014/main" id="{7A516821-21D1-3AF5-C01F-BBE31BCD8706}"/>
              </a:ext>
            </a:extLst>
          </p:cNvPr>
          <p:cNvSpPr/>
          <p:nvPr/>
        </p:nvSpPr>
        <p:spPr>
          <a:xfrm>
            <a:off x="735981" y="401451"/>
            <a:ext cx="11456018" cy="101587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endParaRPr lang="en-US" sz="2000" b="1" dirty="0">
              <a:solidFill>
                <a:schemeClr val="lt1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428" name="Google Shape;428;p49"/>
          <p:cNvSpPr txBox="1">
            <a:spLocks noGrp="1"/>
          </p:cNvSpPr>
          <p:nvPr>
            <p:ph type="title"/>
          </p:nvPr>
        </p:nvSpPr>
        <p:spPr>
          <a:xfrm>
            <a:off x="950966" y="5048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Changing Korea-China Trade Relationship</a:t>
            </a:r>
          </a:p>
        </p:txBody>
      </p:sp>
      <p:sp>
        <p:nvSpPr>
          <p:cNvPr id="2018" name="From box"/>
          <p:cNvSpPr/>
          <p:nvPr/>
        </p:nvSpPr>
        <p:spPr>
          <a:xfrm>
            <a:off x="950976" y="1700559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Complementary production</a:t>
            </a:r>
          </a:p>
        </p:txBody>
      </p:sp>
      <p:sp>
        <p:nvSpPr>
          <p:cNvPr id="2019" name="To box"/>
          <p:cNvSpPr/>
          <p:nvPr/>
        </p:nvSpPr>
        <p:spPr>
          <a:xfrm>
            <a:off x="8046720" y="1700559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Greater competition</a:t>
            </a:r>
          </a:p>
        </p:txBody>
      </p:sp>
      <p:cxnSp>
        <p:nvCxnSpPr>
          <p:cNvPr id="2020" name="Shift arrow"/>
          <p:cNvCxnSpPr/>
          <p:nvPr/>
        </p:nvCxnSpPr>
        <p:spPr>
          <a:xfrm>
            <a:off x="4288536" y="2134899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1" name="Shift driver"/>
          <p:cNvSpPr txBox="1"/>
          <p:nvPr/>
        </p:nvSpPr>
        <p:spPr>
          <a:xfrm>
            <a:off x="4242816" y="1581687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Made in China 2025</a:t>
            </a:r>
          </a:p>
        </p:txBody>
      </p:sp>
      <p:sp>
        <p:nvSpPr>
          <p:cNvPr id="2022" name="Shift driver detail"/>
          <p:cNvSpPr txBox="1"/>
          <p:nvPr/>
        </p:nvSpPr>
        <p:spPr>
          <a:xfrm>
            <a:off x="4242816" y="2230911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</a:t>
            </a: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emiconductors, robotics, EVs, etc.;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Reduce foreign dependence</a:t>
            </a:r>
            <a:endParaRPr lang="en-US" sz="1800" b="0" dirty="0">
              <a:solidFill>
                <a:schemeClr val="accent3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2023" name="From caption"/>
          <p:cNvSpPr txBox="1"/>
          <p:nvPr/>
        </p:nvSpPr>
        <p:spPr>
          <a:xfrm>
            <a:off x="950976" y="2660679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Korea supplied inputs; China assembled</a:t>
            </a:r>
          </a:p>
        </p:txBody>
      </p:sp>
      <p:sp>
        <p:nvSpPr>
          <p:cNvPr id="2024" name="To caption"/>
          <p:cNvSpPr txBox="1"/>
          <p:nvPr/>
        </p:nvSpPr>
        <p:spPr>
          <a:xfrm>
            <a:off x="7715529" y="2660679"/>
            <a:ext cx="3862782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Chinese firms now are investing in creating goods Korea once supplied</a:t>
            </a:r>
          </a:p>
        </p:txBody>
      </p:sp>
      <p:cxnSp>
        <p:nvCxnSpPr>
          <p:cNvPr id="2025" name="Timeline axis"/>
          <p:cNvCxnSpPr/>
          <p:nvPr/>
        </p:nvCxnSpPr>
        <p:spPr>
          <a:xfrm>
            <a:off x="950976" y="3712239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6" name="Timeline marker 1"/>
          <p:cNvSpPr/>
          <p:nvPr/>
        </p:nvSpPr>
        <p:spPr>
          <a:xfrm>
            <a:off x="950976" y="3611655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27" name="Timeline year 1"/>
          <p:cNvSpPr txBox="1"/>
          <p:nvPr/>
        </p:nvSpPr>
        <p:spPr>
          <a:xfrm>
            <a:off x="950976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2015</a:t>
            </a:r>
          </a:p>
        </p:txBody>
      </p:sp>
      <p:sp>
        <p:nvSpPr>
          <p:cNvPr id="2028" name="Timeline text 1"/>
          <p:cNvSpPr txBox="1"/>
          <p:nvPr/>
        </p:nvSpPr>
        <p:spPr>
          <a:xfrm>
            <a:off x="950976" y="4315743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Made in China 2025: less reliance on foreign tech</a:t>
            </a:r>
          </a:p>
        </p:txBody>
      </p:sp>
      <p:sp>
        <p:nvSpPr>
          <p:cNvPr id="2029" name="Timeline marker 2"/>
          <p:cNvSpPr/>
          <p:nvPr/>
        </p:nvSpPr>
        <p:spPr>
          <a:xfrm>
            <a:off x="4796252" y="3611655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0" name="Timeline year 2"/>
          <p:cNvSpPr txBox="1"/>
          <p:nvPr/>
        </p:nvSpPr>
        <p:spPr>
          <a:xfrm>
            <a:off x="4796252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2023</a:t>
            </a:r>
          </a:p>
        </p:txBody>
      </p:sp>
      <p:sp>
        <p:nvSpPr>
          <p:cNvPr id="2031" name="Timeline text 2"/>
          <p:cNvSpPr txBox="1"/>
          <p:nvPr/>
        </p:nvSpPr>
        <p:spPr>
          <a:xfrm>
            <a:off x="4796252" y="4315743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First annual deficit with China in 30+ years</a:t>
            </a:r>
          </a:p>
        </p:txBody>
      </p:sp>
      <p:sp>
        <p:nvSpPr>
          <p:cNvPr id="2035" name="Timeline marker 4"/>
          <p:cNvSpPr/>
          <p:nvPr/>
        </p:nvSpPr>
        <p:spPr>
          <a:xfrm>
            <a:off x="8673084" y="3611655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6" name="Timeline year 4"/>
          <p:cNvSpPr txBox="1"/>
          <p:nvPr/>
        </p:nvSpPr>
        <p:spPr>
          <a:xfrm>
            <a:off x="8673084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2026 (Jan-Aug)</a:t>
            </a:r>
          </a:p>
        </p:txBody>
      </p:sp>
      <p:sp>
        <p:nvSpPr>
          <p:cNvPr id="2037" name="Timeline text 4"/>
          <p:cNvSpPr txBox="1"/>
          <p:nvPr/>
        </p:nvSpPr>
        <p:spPr>
          <a:xfrm>
            <a:off x="8673083" y="4315743"/>
            <a:ext cx="256788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Surplus in the first 8 months: competition doesn’t mean less trade</a:t>
            </a:r>
          </a:p>
        </p:txBody>
      </p:sp>
      <p:sp>
        <p:nvSpPr>
          <p:cNvPr id="2038" name="Takeaway banner"/>
          <p:cNvSpPr/>
          <p:nvPr/>
        </p:nvSpPr>
        <p:spPr>
          <a:xfrm>
            <a:off x="950967" y="5486175"/>
            <a:ext cx="10296144" cy="82387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trade relationship has become increasingly competitive while remaining deeply interconnected through trade.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Title band"/>
          <p:cNvSpPr/>
          <p:nvPr/>
        </p:nvSpPr>
        <p:spPr>
          <a:xfrm>
            <a:off x="0" y="274320"/>
            <a:ext cx="12191695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4" name="Google Shape;404;p47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South Korea: A Global Memory Chip Leader</a:t>
            </a:r>
          </a:p>
        </p:txBody>
      </p:sp>
      <p:sp>
        <p:nvSpPr>
          <p:cNvPr id="2042" name="Group 1 label"/>
          <p:cNvSpPr txBox="1"/>
          <p:nvPr/>
        </p:nvSpPr>
        <p:spPr>
          <a:xfrm>
            <a:off x="6281928" y="1517904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Samsung + SK Hynix: global share (Q2 2026)</a:t>
            </a:r>
          </a:p>
        </p:txBody>
      </p:sp>
      <p:cxnSp>
        <p:nvCxnSpPr>
          <p:cNvPr id="2043" name="Group 1 rule"/>
          <p:cNvCxnSpPr/>
          <p:nvPr/>
        </p:nvCxnSpPr>
        <p:spPr>
          <a:xfrm>
            <a:off x="6281928" y="1956816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6" name="Stat 1 value"/>
          <p:cNvSpPr txBox="1"/>
          <p:nvPr/>
        </p:nvSpPr>
        <p:spPr>
          <a:xfrm>
            <a:off x="6281928" y="204825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~80%</a:t>
            </a:r>
          </a:p>
        </p:txBody>
      </p:sp>
      <p:sp>
        <p:nvSpPr>
          <p:cNvPr id="2047" name="Stat 1 label"/>
          <p:cNvSpPr txBox="1"/>
          <p:nvPr/>
        </p:nvSpPr>
        <p:spPr>
          <a:xfrm>
            <a:off x="6281928" y="3008376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HBM market</a:t>
            </a:r>
          </a:p>
        </p:txBody>
      </p:sp>
      <p:sp>
        <p:nvSpPr>
          <p:cNvPr id="2049" name="Stat 2 value"/>
          <p:cNvSpPr txBox="1"/>
          <p:nvPr/>
        </p:nvSpPr>
        <p:spPr>
          <a:xfrm>
            <a:off x="8947404" y="204825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60%+</a:t>
            </a:r>
          </a:p>
        </p:txBody>
      </p:sp>
      <p:sp>
        <p:nvSpPr>
          <p:cNvPr id="2050" name="Stat 2 label"/>
          <p:cNvSpPr txBox="1"/>
          <p:nvPr/>
        </p:nvSpPr>
        <p:spPr>
          <a:xfrm>
            <a:off x="8947404" y="3008376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DRAM market</a:t>
            </a:r>
          </a:p>
        </p:txBody>
      </p:sp>
      <p:cxnSp>
        <p:nvCxnSpPr>
          <p:cNvPr id="2058" name="Divider"/>
          <p:cNvCxnSpPr/>
          <p:nvPr/>
        </p:nvCxnSpPr>
        <p:spPr>
          <a:xfrm>
            <a:off x="950976" y="4754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59" name="China note marker"/>
          <p:cNvSpPr/>
          <p:nvPr/>
        </p:nvSpPr>
        <p:spPr>
          <a:xfrm>
            <a:off x="973278" y="5005783"/>
            <a:ext cx="186448" cy="1810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60" name="China note"/>
          <p:cNvSpPr txBox="1"/>
          <p:nvPr/>
        </p:nvSpPr>
        <p:spPr>
          <a:xfrm>
            <a:off x="1362456" y="4937760"/>
            <a:ext cx="988466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 remains a major buyer of Korean chips,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driven by its vast electronics manufacturing and fast-growing AI ecosystem</a:t>
            </a:r>
          </a:p>
        </p:txBody>
      </p:sp>
      <p:sp>
        <p:nvSpPr>
          <p:cNvPr id="10" name="Group 2 label">
            <a:extLst>
              <a:ext uri="{FF2B5EF4-FFF2-40B4-BE49-F238E27FC236}">
                <a16:creationId xmlns:a16="http://schemas.microsoft.com/office/drawing/2014/main" id="{643EF2DD-0948-2EFD-7DC1-A40DC727587E}"/>
              </a:ext>
            </a:extLst>
          </p:cNvPr>
          <p:cNvSpPr txBox="1"/>
          <p:nvPr/>
        </p:nvSpPr>
        <p:spPr>
          <a:xfrm>
            <a:off x="962801" y="1517013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Weight in the domestic economy</a:t>
            </a:r>
          </a:p>
        </p:txBody>
      </p:sp>
      <p:cxnSp>
        <p:nvCxnSpPr>
          <p:cNvPr id="11" name="Group 2 rule">
            <a:extLst>
              <a:ext uri="{FF2B5EF4-FFF2-40B4-BE49-F238E27FC236}">
                <a16:creationId xmlns:a16="http://schemas.microsoft.com/office/drawing/2014/main" id="{D388C8A0-89AA-9496-3D7F-C73859F19CA2}"/>
              </a:ext>
            </a:extLst>
          </p:cNvPr>
          <p:cNvCxnSpPr/>
          <p:nvPr/>
        </p:nvCxnSpPr>
        <p:spPr>
          <a:xfrm>
            <a:off x="962801" y="1955925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2" name="Stat 3 value">
            <a:extLst>
              <a:ext uri="{FF2B5EF4-FFF2-40B4-BE49-F238E27FC236}">
                <a16:creationId xmlns:a16="http://schemas.microsoft.com/office/drawing/2014/main" id="{6D71E234-9DA7-91C1-07D5-46E98BFFAB91}"/>
              </a:ext>
            </a:extLst>
          </p:cNvPr>
          <p:cNvSpPr txBox="1"/>
          <p:nvPr/>
        </p:nvSpPr>
        <p:spPr>
          <a:xfrm>
            <a:off x="3616789" y="2047365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~48%</a:t>
            </a:r>
          </a:p>
        </p:txBody>
      </p:sp>
      <p:sp>
        <p:nvSpPr>
          <p:cNvPr id="13" name="Stat 3 label">
            <a:extLst>
              <a:ext uri="{FF2B5EF4-FFF2-40B4-BE49-F238E27FC236}">
                <a16:creationId xmlns:a16="http://schemas.microsoft.com/office/drawing/2014/main" id="{1F2296BA-E67A-FC23-8D0A-60CC3AC65778}"/>
              </a:ext>
            </a:extLst>
          </p:cNvPr>
          <p:cNvSpPr txBox="1"/>
          <p:nvPr/>
        </p:nvSpPr>
        <p:spPr>
          <a:xfrm>
            <a:off x="3616789" y="3007485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Korea's total exports</a:t>
            </a:r>
          </a:p>
        </p:txBody>
      </p:sp>
      <p:sp>
        <p:nvSpPr>
          <p:cNvPr id="14" name="Stat 3 caption">
            <a:extLst>
              <a:ext uri="{FF2B5EF4-FFF2-40B4-BE49-F238E27FC236}">
                <a16:creationId xmlns:a16="http://schemas.microsoft.com/office/drawing/2014/main" id="{08DCF2C0-2563-03BD-18A9-930D93885149}"/>
              </a:ext>
            </a:extLst>
          </p:cNvPr>
          <p:cNvSpPr txBox="1"/>
          <p:nvPr/>
        </p:nvSpPr>
        <p:spPr>
          <a:xfrm>
            <a:off x="3616789" y="3693285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Based on data from September 1 to September 20, 2026</a:t>
            </a:r>
            <a:endParaRPr lang="en-US" sz="1600" b="0" dirty="0">
              <a:solidFill>
                <a:schemeClr val="accent3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18" name="Stat 1 value">
            <a:extLst>
              <a:ext uri="{FF2B5EF4-FFF2-40B4-BE49-F238E27FC236}">
                <a16:creationId xmlns:a16="http://schemas.microsoft.com/office/drawing/2014/main" id="{04102AF4-E910-D323-911D-5549F1A29D1E}"/>
              </a:ext>
            </a:extLst>
          </p:cNvPr>
          <p:cNvSpPr txBox="1"/>
          <p:nvPr/>
        </p:nvSpPr>
        <p:spPr>
          <a:xfrm>
            <a:off x="7614666" y="328269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~47%</a:t>
            </a:r>
          </a:p>
        </p:txBody>
      </p:sp>
      <p:sp>
        <p:nvSpPr>
          <p:cNvPr id="19" name="Stat 1 label">
            <a:extLst>
              <a:ext uri="{FF2B5EF4-FFF2-40B4-BE49-F238E27FC236}">
                <a16:creationId xmlns:a16="http://schemas.microsoft.com/office/drawing/2014/main" id="{11D4BD33-EBEF-3D9B-2E2B-5E1A32262D7C}"/>
              </a:ext>
            </a:extLst>
          </p:cNvPr>
          <p:cNvSpPr txBox="1"/>
          <p:nvPr/>
        </p:nvSpPr>
        <p:spPr>
          <a:xfrm>
            <a:off x="7614666" y="4251960"/>
            <a:ext cx="285633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NAND market</a:t>
            </a:r>
          </a:p>
        </p:txBody>
      </p:sp>
      <p:sp>
        <p:nvSpPr>
          <p:cNvPr id="20" name="Stat 4 value">
            <a:extLst>
              <a:ext uri="{FF2B5EF4-FFF2-40B4-BE49-F238E27FC236}">
                <a16:creationId xmlns:a16="http://schemas.microsoft.com/office/drawing/2014/main" id="{9174B1AC-0817-88A0-F892-7CFAC5BE6D61}"/>
              </a:ext>
            </a:extLst>
          </p:cNvPr>
          <p:cNvSpPr txBox="1"/>
          <p:nvPr/>
        </p:nvSpPr>
        <p:spPr>
          <a:xfrm>
            <a:off x="974293" y="2047365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50%+</a:t>
            </a:r>
          </a:p>
        </p:txBody>
      </p:sp>
      <p:sp>
        <p:nvSpPr>
          <p:cNvPr id="21" name="Stat 4 label">
            <a:extLst>
              <a:ext uri="{FF2B5EF4-FFF2-40B4-BE49-F238E27FC236}">
                <a16:creationId xmlns:a16="http://schemas.microsoft.com/office/drawing/2014/main" id="{FA145F91-C7F2-58E6-E67A-0BB17951BD0B}"/>
              </a:ext>
            </a:extLst>
          </p:cNvPr>
          <p:cNvSpPr txBox="1"/>
          <p:nvPr/>
        </p:nvSpPr>
        <p:spPr>
          <a:xfrm>
            <a:off x="974293" y="3007485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KOSPI market cap</a:t>
            </a:r>
          </a:p>
        </p:txBody>
      </p:sp>
      <p:sp>
        <p:nvSpPr>
          <p:cNvPr id="22" name="Stat 4 caption">
            <a:extLst>
              <a:ext uri="{FF2B5EF4-FFF2-40B4-BE49-F238E27FC236}">
                <a16:creationId xmlns:a16="http://schemas.microsoft.com/office/drawing/2014/main" id="{8D4A29EB-6A10-2A6C-4B83-EEFCDCBC04ED}"/>
              </a:ext>
            </a:extLst>
          </p:cNvPr>
          <p:cNvSpPr txBox="1"/>
          <p:nvPr/>
        </p:nvSpPr>
        <p:spPr>
          <a:xfrm>
            <a:off x="974293" y="3693285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Samsung + SK Hynix combined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1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8" name="Google Shape;718;p69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China's Rise in Memory Chips</a:t>
            </a:r>
          </a:p>
        </p:txBody>
      </p:sp>
      <p:sp>
        <p:nvSpPr>
          <p:cNvPr id="2062" name="CXMT heading"/>
          <p:cNvSpPr txBox="1"/>
          <p:nvPr/>
        </p:nvSpPr>
        <p:spPr>
          <a:xfrm>
            <a:off x="796274" y="1584365"/>
            <a:ext cx="4624621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 err="1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ChangXin</a:t>
            </a: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Memory Technologies (CXMT)</a:t>
            </a:r>
          </a:p>
        </p:txBody>
      </p:sp>
      <p:sp>
        <p:nvSpPr>
          <p:cNvPr id="2063" name="CXMT intro"/>
          <p:cNvSpPr txBox="1"/>
          <p:nvPr/>
        </p:nvSpPr>
        <p:spPr>
          <a:xfrm>
            <a:off x="630936" y="1938528"/>
            <a:ext cx="4944651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Chinese memory chip manufacturer, founded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in </a:t>
            </a: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2016</a:t>
            </a:r>
          </a:p>
        </p:txBody>
      </p:sp>
      <p:sp>
        <p:nvSpPr>
          <p:cNvPr id="2064" name="Share before"/>
          <p:cNvSpPr txBox="1"/>
          <p:nvPr/>
        </p:nvSpPr>
        <p:spPr>
          <a:xfrm>
            <a:off x="950976" y="4069079"/>
            <a:ext cx="14630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4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4%</a:t>
            </a:r>
          </a:p>
        </p:txBody>
      </p:sp>
      <p:cxnSp>
        <p:nvCxnSpPr>
          <p:cNvPr id="2065" name="Share arrow"/>
          <p:cNvCxnSpPr/>
          <p:nvPr/>
        </p:nvCxnSpPr>
        <p:spPr>
          <a:xfrm>
            <a:off x="2368296" y="4503419"/>
            <a:ext cx="82296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66" name="Share after"/>
          <p:cNvSpPr txBox="1"/>
          <p:nvPr/>
        </p:nvSpPr>
        <p:spPr>
          <a:xfrm>
            <a:off x="3328416" y="4069079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10%</a:t>
            </a:r>
          </a:p>
        </p:txBody>
      </p:sp>
      <p:sp>
        <p:nvSpPr>
          <p:cNvPr id="2067" name="Share label"/>
          <p:cNvSpPr txBox="1"/>
          <p:nvPr/>
        </p:nvSpPr>
        <p:spPr>
          <a:xfrm>
            <a:off x="826786" y="4914900"/>
            <a:ext cx="474879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Global DRAM share change over the past year</a:t>
            </a:r>
          </a:p>
        </p:txBody>
      </p:sp>
      <p:sp>
        <p:nvSpPr>
          <p:cNvPr id="2068" name="Rank value"/>
          <p:cNvSpPr txBox="1"/>
          <p:nvPr/>
        </p:nvSpPr>
        <p:spPr>
          <a:xfrm>
            <a:off x="1225296" y="5541263"/>
            <a:ext cx="1143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#4</a:t>
            </a:r>
          </a:p>
        </p:txBody>
      </p:sp>
      <p:sp>
        <p:nvSpPr>
          <p:cNvPr id="2069" name="Rank text"/>
          <p:cNvSpPr txBox="1"/>
          <p:nvPr/>
        </p:nvSpPr>
        <p:spPr>
          <a:xfrm>
            <a:off x="2139696" y="5486399"/>
            <a:ext cx="32461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in DRAM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market share; only </a:t>
            </a: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Samsung, SK Hynix, and Micron (US)</a:t>
            </a:r>
          </a:p>
        </p:txBody>
      </p:sp>
      <p:cxnSp>
        <p:nvCxnSpPr>
          <p:cNvPr id="2071" name="Column divider"/>
          <p:cNvCxnSpPr>
            <a:cxnSpLocks/>
          </p:cNvCxnSpPr>
          <p:nvPr/>
        </p:nvCxnSpPr>
        <p:spPr>
          <a:xfrm>
            <a:off x="5669280" y="1645920"/>
            <a:ext cx="0" cy="4672583"/>
          </a:xfrm>
          <a:prstGeom prst="line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2" name="Gap heading"/>
          <p:cNvSpPr txBox="1"/>
          <p:nvPr/>
        </p:nvSpPr>
        <p:spPr>
          <a:xfrm>
            <a:off x="5989320" y="1572768"/>
            <a:ext cx="52578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 is only a few years behind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D7C3BA-0AFC-753B-3A5D-E94DD3A189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17"/>
          <a:stretch>
            <a:fillRect/>
          </a:stretch>
        </p:blipFill>
        <p:spPr>
          <a:xfrm>
            <a:off x="1521313" y="2354134"/>
            <a:ext cx="2516926" cy="1595448"/>
          </a:xfrm>
          <a:prstGeom prst="rect">
            <a:avLst/>
          </a:prstGeom>
        </p:spPr>
      </p:pic>
      <p:sp>
        <p:nvSpPr>
          <p:cNvPr id="12" name="Gap 1 value">
            <a:extLst>
              <a:ext uri="{FF2B5EF4-FFF2-40B4-BE49-F238E27FC236}">
                <a16:creationId xmlns:a16="http://schemas.microsoft.com/office/drawing/2014/main" id="{E46592FB-E36D-8FEE-7262-ED8C07D0C88C}"/>
              </a:ext>
            </a:extLst>
          </p:cNvPr>
          <p:cNvSpPr txBox="1"/>
          <p:nvPr/>
        </p:nvSpPr>
        <p:spPr>
          <a:xfrm>
            <a:off x="5989320" y="2103120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2 years</a:t>
            </a:r>
          </a:p>
        </p:txBody>
      </p:sp>
      <p:sp>
        <p:nvSpPr>
          <p:cNvPr id="13" name="Gap 1 label">
            <a:extLst>
              <a:ext uri="{FF2B5EF4-FFF2-40B4-BE49-F238E27FC236}">
                <a16:creationId xmlns:a16="http://schemas.microsoft.com/office/drawing/2014/main" id="{75B19F05-DA89-E960-014D-96CE20C50489}"/>
              </a:ext>
            </a:extLst>
          </p:cNvPr>
          <p:cNvSpPr txBox="1"/>
          <p:nvPr/>
        </p:nvSpPr>
        <p:spPr>
          <a:xfrm>
            <a:off x="8641080" y="2103120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DRAM</a:t>
            </a:r>
          </a:p>
        </p:txBody>
      </p:sp>
      <p:cxnSp>
        <p:nvCxnSpPr>
          <p:cNvPr id="14" name="Gap rule 1">
            <a:extLst>
              <a:ext uri="{FF2B5EF4-FFF2-40B4-BE49-F238E27FC236}">
                <a16:creationId xmlns:a16="http://schemas.microsoft.com/office/drawing/2014/main" id="{545CD248-A85B-AE81-CFA9-EB75D8ECEE06}"/>
              </a:ext>
            </a:extLst>
          </p:cNvPr>
          <p:cNvCxnSpPr/>
          <p:nvPr/>
        </p:nvCxnSpPr>
        <p:spPr>
          <a:xfrm>
            <a:off x="5989320" y="3200400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5" name="Gap 2 value">
            <a:extLst>
              <a:ext uri="{FF2B5EF4-FFF2-40B4-BE49-F238E27FC236}">
                <a16:creationId xmlns:a16="http://schemas.microsoft.com/office/drawing/2014/main" id="{201D323D-5159-1BE8-D906-73B00FC3ADD8}"/>
              </a:ext>
            </a:extLst>
          </p:cNvPr>
          <p:cNvSpPr txBox="1"/>
          <p:nvPr/>
        </p:nvSpPr>
        <p:spPr>
          <a:xfrm>
            <a:off x="5989320" y="3364992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3 years</a:t>
            </a:r>
          </a:p>
        </p:txBody>
      </p:sp>
      <p:sp>
        <p:nvSpPr>
          <p:cNvPr id="16" name="Gap 2 label">
            <a:extLst>
              <a:ext uri="{FF2B5EF4-FFF2-40B4-BE49-F238E27FC236}">
                <a16:creationId xmlns:a16="http://schemas.microsoft.com/office/drawing/2014/main" id="{A5DBD400-9FAC-5D92-9A40-5AFD0EF365DC}"/>
              </a:ext>
            </a:extLst>
          </p:cNvPr>
          <p:cNvSpPr txBox="1"/>
          <p:nvPr/>
        </p:nvSpPr>
        <p:spPr>
          <a:xfrm>
            <a:off x="8641080" y="3364992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HBM</a:t>
            </a:r>
          </a:p>
        </p:txBody>
      </p:sp>
      <p:cxnSp>
        <p:nvCxnSpPr>
          <p:cNvPr id="17" name="Gap rule 2">
            <a:extLst>
              <a:ext uri="{FF2B5EF4-FFF2-40B4-BE49-F238E27FC236}">
                <a16:creationId xmlns:a16="http://schemas.microsoft.com/office/drawing/2014/main" id="{7259328B-BA26-CA28-E48E-7A138BF3EF7A}"/>
              </a:ext>
            </a:extLst>
          </p:cNvPr>
          <p:cNvCxnSpPr/>
          <p:nvPr/>
        </p:nvCxnSpPr>
        <p:spPr>
          <a:xfrm>
            <a:off x="5989320" y="4462272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8" name="Gap 3 value">
            <a:extLst>
              <a:ext uri="{FF2B5EF4-FFF2-40B4-BE49-F238E27FC236}">
                <a16:creationId xmlns:a16="http://schemas.microsoft.com/office/drawing/2014/main" id="{4D6C4CF7-53A3-AC5D-B566-894082DCC762}"/>
              </a:ext>
            </a:extLst>
          </p:cNvPr>
          <p:cNvSpPr txBox="1"/>
          <p:nvPr/>
        </p:nvSpPr>
        <p:spPr>
          <a:xfrm>
            <a:off x="5989320" y="4626864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1 year</a:t>
            </a:r>
          </a:p>
        </p:txBody>
      </p:sp>
      <p:sp>
        <p:nvSpPr>
          <p:cNvPr id="19" name="Gap 3 label">
            <a:extLst>
              <a:ext uri="{FF2B5EF4-FFF2-40B4-BE49-F238E27FC236}">
                <a16:creationId xmlns:a16="http://schemas.microsoft.com/office/drawing/2014/main" id="{8EA4F3C4-442E-D196-5795-C6377F27CE63}"/>
              </a:ext>
            </a:extLst>
          </p:cNvPr>
          <p:cNvSpPr txBox="1"/>
          <p:nvPr/>
        </p:nvSpPr>
        <p:spPr>
          <a:xfrm>
            <a:off x="8641080" y="4626864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NAND</a:t>
            </a:r>
          </a:p>
        </p:txBody>
      </p:sp>
      <p:sp>
        <p:nvSpPr>
          <p:cNvPr id="3001" name="Gap source"/>
          <p:cNvSpPr txBox="1"/>
          <p:nvPr/>
        </p:nvSpPr>
        <p:spPr>
          <a:xfrm>
            <a:off x="5989320" y="5989320"/>
            <a:ext cx="5257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Source: Korea Semiconductor Industry Association, September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1" name="Title band"/>
          <p:cNvSpPr/>
          <p:nvPr/>
        </p:nvSpPr>
        <p:spPr>
          <a:xfrm>
            <a:off x="0" y="274320"/>
            <a:ext cx="1051560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2" name="Title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9473184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/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Paradox: Strong Demand, Growing Risk</a:t>
            </a:r>
          </a:p>
        </p:txBody>
      </p:sp>
      <p:sp>
        <p:nvSpPr>
          <p:cNvPr id="3103" name="Left heading"/>
          <p:cNvSpPr txBox="1"/>
          <p:nvPr/>
        </p:nvSpPr>
        <p:spPr>
          <a:xfrm>
            <a:off x="950976" y="1572768"/>
            <a:ext cx="473659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Short-term strength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Chinese demand persists</a:t>
            </a:r>
          </a:p>
        </p:txBody>
      </p:sp>
      <p:sp>
        <p:nvSpPr>
          <p:cNvPr id="3104" name="Right heading"/>
          <p:cNvSpPr txBox="1"/>
          <p:nvPr/>
        </p:nvSpPr>
        <p:spPr>
          <a:xfrm>
            <a:off x="6510528" y="1572768"/>
            <a:ext cx="473659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Long-term risk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Markets fear China's competitiveness</a:t>
            </a:r>
          </a:p>
        </p:txBody>
      </p:sp>
      <p:cxnSp>
        <p:nvCxnSpPr>
          <p:cNvPr id="3105" name="Column divider"/>
          <p:cNvCxnSpPr/>
          <p:nvPr/>
        </p:nvCxnSpPr>
        <p:spPr>
          <a:xfrm>
            <a:off x="6099048" y="1645920"/>
            <a:ext cx="0" cy="352044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3106" name="Rebound arrow"/>
          <p:cNvSpPr/>
          <p:nvPr/>
        </p:nvSpPr>
        <p:spPr>
          <a:xfrm>
            <a:off x="950976" y="2542032"/>
            <a:ext cx="868680" cy="1234440"/>
          </a:xfrm>
          <a:prstGeom prst="upArrow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3107" name="Rebound headline"/>
          <p:cNvSpPr txBox="1"/>
          <p:nvPr/>
        </p:nvSpPr>
        <p:spPr>
          <a:xfrm>
            <a:off x="2048256" y="2450592"/>
            <a:ext cx="3639312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Exports to China rebound strongly</a:t>
            </a:r>
          </a:p>
        </p:txBody>
      </p:sp>
      <p:sp>
        <p:nvSpPr>
          <p:cNvPr id="3108" name="Rebound driver"/>
          <p:cNvSpPr txBox="1"/>
          <p:nvPr/>
        </p:nvSpPr>
        <p:spPr>
          <a:xfrm>
            <a:off x="2048256" y="3520440"/>
            <a:ext cx="363931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2026, driven by AI chip demand</a:t>
            </a:r>
          </a:p>
        </p:txBody>
      </p:sp>
      <p:cxnSp>
        <p:nvCxnSpPr>
          <p:cNvPr id="3109" name="Context rule"/>
          <p:cNvCxnSpPr/>
          <p:nvPr/>
        </p:nvCxnSpPr>
        <p:spPr>
          <a:xfrm>
            <a:off x="950976" y="4160520"/>
            <a:ext cx="47365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3110" name="Share context"/>
          <p:cNvSpPr txBox="1"/>
          <p:nvPr/>
        </p:nvSpPr>
        <p:spPr>
          <a:xfrm>
            <a:off x="950976" y="4279392"/>
            <a:ext cx="4736592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Context: </a:t>
            </a: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China's share of Korea's memory chip exports fell from </a:t>
            </a:r>
            <a:r>
              <a:rPr lang="en-US" sz="18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45.7%</a:t>
            </a: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(2018) to </a:t>
            </a:r>
            <a:r>
              <a:rPr lang="en-US" sz="18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31.7%</a:t>
            </a: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(2024)</a:t>
            </a:r>
          </a:p>
        </p:txBody>
      </p:sp>
      <p:sp>
        <p:nvSpPr>
          <p:cNvPr id="3111" name="Recent label"/>
          <p:cNvSpPr txBox="1"/>
          <p:nvPr/>
        </p:nvSpPr>
        <p:spPr>
          <a:xfrm>
            <a:off x="6510528" y="2468880"/>
            <a:ext cx="473659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Most recent selloff (approx.)</a:t>
            </a:r>
          </a:p>
        </p:txBody>
      </p:sp>
      <p:sp>
        <p:nvSpPr>
          <p:cNvPr id="3112" name="Selloff 1 value"/>
          <p:cNvSpPr txBox="1"/>
          <p:nvPr/>
        </p:nvSpPr>
        <p:spPr>
          <a:xfrm>
            <a:off x="6510528" y="2788920"/>
            <a:ext cx="157886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−5.5%</a:t>
            </a:r>
          </a:p>
        </p:txBody>
      </p:sp>
      <p:sp>
        <p:nvSpPr>
          <p:cNvPr id="3113" name="Selloff 1 name"/>
          <p:cNvSpPr txBox="1"/>
          <p:nvPr/>
        </p:nvSpPr>
        <p:spPr>
          <a:xfrm>
            <a:off x="6510528" y="3474720"/>
            <a:ext cx="15788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KOSPI</a:t>
            </a:r>
          </a:p>
        </p:txBody>
      </p:sp>
      <p:sp>
        <p:nvSpPr>
          <p:cNvPr id="3114" name="Selloff 2 value"/>
          <p:cNvSpPr txBox="1"/>
          <p:nvPr/>
        </p:nvSpPr>
        <p:spPr>
          <a:xfrm>
            <a:off x="8089392" y="2788920"/>
            <a:ext cx="157886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−7%</a:t>
            </a:r>
          </a:p>
        </p:txBody>
      </p:sp>
      <p:sp>
        <p:nvSpPr>
          <p:cNvPr id="3115" name="Selloff 2 name"/>
          <p:cNvSpPr txBox="1"/>
          <p:nvPr/>
        </p:nvSpPr>
        <p:spPr>
          <a:xfrm>
            <a:off x="8089392" y="3474720"/>
            <a:ext cx="15788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Samsung</a:t>
            </a:r>
          </a:p>
        </p:txBody>
      </p:sp>
      <p:sp>
        <p:nvSpPr>
          <p:cNvPr id="3116" name="Selloff 3 value"/>
          <p:cNvSpPr txBox="1"/>
          <p:nvPr/>
        </p:nvSpPr>
        <p:spPr>
          <a:xfrm>
            <a:off x="9668256" y="2788920"/>
            <a:ext cx="157886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−10%</a:t>
            </a:r>
          </a:p>
        </p:txBody>
      </p:sp>
      <p:sp>
        <p:nvSpPr>
          <p:cNvPr id="3117" name="Selloff 3 name"/>
          <p:cNvSpPr txBox="1"/>
          <p:nvPr/>
        </p:nvSpPr>
        <p:spPr>
          <a:xfrm>
            <a:off x="9668256" y="3474720"/>
            <a:ext cx="15788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 Hynix</a:t>
            </a:r>
          </a:p>
        </p:txBody>
      </p:sp>
      <p:cxnSp>
        <p:nvCxnSpPr>
          <p:cNvPr id="3118" name="Selloff rule"/>
          <p:cNvCxnSpPr/>
          <p:nvPr/>
        </p:nvCxnSpPr>
        <p:spPr>
          <a:xfrm>
            <a:off x="6510528" y="3959352"/>
            <a:ext cx="47365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3119" name="July selloff"/>
          <p:cNvSpPr txBox="1"/>
          <p:nvPr/>
        </p:nvSpPr>
        <p:spPr>
          <a:xfrm>
            <a:off x="6510528" y="4041648"/>
            <a:ext cx="4736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July selloff: </a:t>
            </a: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KOSPI fell nearly 11%</a:t>
            </a:r>
          </a:p>
        </p:txBody>
      </p:sp>
      <p:sp>
        <p:nvSpPr>
          <p:cNvPr id="3120" name="Selloff note"/>
          <p:cNvSpPr txBox="1"/>
          <p:nvPr/>
        </p:nvSpPr>
        <p:spPr>
          <a:xfrm>
            <a:off x="6510528" y="4498848"/>
            <a:ext cx="47365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AI-investment worries played a part, but CXMT's progress raised fears that more chip supply will squeeze Korean prices and profits</a:t>
            </a:r>
          </a:p>
        </p:txBody>
      </p:sp>
      <p:sp>
        <p:nvSpPr>
          <p:cNvPr id="3121" name="Takeaway banner"/>
          <p:cNvSpPr/>
          <p:nvPr/>
        </p:nvSpPr>
        <p:spPr>
          <a:xfrm>
            <a:off x="950976" y="5440680"/>
            <a:ext cx="10296144" cy="8686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Chinese demand supports Korean exports today, but competition could extend into higher-value chips. </a:t>
            </a:r>
            <a:r>
              <a:rPr lang="en-US" sz="18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Korea sustain its export strength as China shifts from customer to competitor?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2" name="Title band"/>
          <p:cNvSpPr/>
          <p:nvPr/>
        </p:nvSpPr>
        <p:spPr>
          <a:xfrm>
            <a:off x="0" y="274320"/>
            <a:ext cx="108813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23" name="Title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9838944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/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South Korea's Response</a:t>
            </a:r>
          </a:p>
        </p:txBody>
      </p:sp>
      <p:sp>
        <p:nvSpPr>
          <p:cNvPr id="3124" name="Column 1 header"/>
          <p:cNvSpPr/>
          <p:nvPr/>
        </p:nvSpPr>
        <p:spPr>
          <a:xfrm>
            <a:off x="950976" y="1572768"/>
            <a:ext cx="4690872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Private sector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Samsung Electronics &amp; SK Hynix</a:t>
            </a:r>
          </a:p>
        </p:txBody>
      </p:sp>
      <p:sp>
        <p:nvSpPr>
          <p:cNvPr id="3125" name="Column 1 marker 1"/>
          <p:cNvSpPr/>
          <p:nvPr/>
        </p:nvSpPr>
        <p:spPr>
          <a:xfrm>
            <a:off x="996696" y="2788920"/>
            <a:ext cx="182880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26" name="Column 1 point 1"/>
          <p:cNvSpPr txBox="1"/>
          <p:nvPr/>
        </p:nvSpPr>
        <p:spPr>
          <a:xfrm>
            <a:off x="1362456" y="26974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Focus on advanced memory, especially HBM, </a:t>
            </a: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where Korea leads China</a:t>
            </a:r>
          </a:p>
        </p:txBody>
      </p:sp>
      <p:sp>
        <p:nvSpPr>
          <p:cNvPr id="3127" name="Column 1 marker 2"/>
          <p:cNvSpPr/>
          <p:nvPr/>
        </p:nvSpPr>
        <p:spPr>
          <a:xfrm>
            <a:off x="996696" y="3703320"/>
            <a:ext cx="182880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28" name="Column 1 point 2"/>
          <p:cNvSpPr txBox="1"/>
          <p:nvPr/>
        </p:nvSpPr>
        <p:spPr>
          <a:xfrm>
            <a:off x="1362456" y="36118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CXMT is developing HBM but still struggles to make it reliably at scale</a:t>
            </a:r>
          </a:p>
        </p:txBody>
      </p:sp>
      <p:sp>
        <p:nvSpPr>
          <p:cNvPr id="3129" name="Column 1 marker 3"/>
          <p:cNvSpPr/>
          <p:nvPr/>
        </p:nvSpPr>
        <p:spPr>
          <a:xfrm>
            <a:off x="996696" y="4617720"/>
            <a:ext cx="182880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0" name="Column 1 point 3"/>
          <p:cNvSpPr txBox="1"/>
          <p:nvPr/>
        </p:nvSpPr>
        <p:spPr>
          <a:xfrm>
            <a:off x="1362456" y="45262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Strategy: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higher-value chips as China gains in conventional DRAM</a:t>
            </a:r>
          </a:p>
        </p:txBody>
      </p:sp>
      <p:sp>
        <p:nvSpPr>
          <p:cNvPr id="3131" name="Column 2 header"/>
          <p:cNvSpPr/>
          <p:nvPr/>
        </p:nvSpPr>
        <p:spPr>
          <a:xfrm>
            <a:off x="6007608" y="1572768"/>
            <a:ext cx="4690872" cy="8686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Government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Semiconductor Special Act</a:t>
            </a:r>
          </a:p>
        </p:txBody>
      </p:sp>
      <p:sp>
        <p:nvSpPr>
          <p:cNvPr id="3132" name="Column 2 marker 1"/>
          <p:cNvSpPr/>
          <p:nvPr/>
        </p:nvSpPr>
        <p:spPr>
          <a:xfrm>
            <a:off x="6053328" y="2788920"/>
            <a:ext cx="182880" cy="182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3" name="Column 2 point 1"/>
          <p:cNvSpPr txBox="1"/>
          <p:nvPr/>
        </p:nvSpPr>
        <p:spPr>
          <a:xfrm>
            <a:off x="6419088" y="26974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Took effect August 11, 2026</a:t>
            </a:r>
          </a:p>
        </p:txBody>
      </p:sp>
      <p:sp>
        <p:nvSpPr>
          <p:cNvPr id="3134" name="Column 2 marker 2"/>
          <p:cNvSpPr/>
          <p:nvPr/>
        </p:nvSpPr>
        <p:spPr>
          <a:xfrm>
            <a:off x="6053328" y="3703320"/>
            <a:ext cx="182880" cy="182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5" name="Column 2 point 2"/>
          <p:cNvSpPr txBox="1"/>
          <p:nvPr/>
        </p:nvSpPr>
        <p:spPr>
          <a:xfrm>
            <a:off x="6419088" y="36118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Expands manufacturing infrastructure, chip clusters and R&amp;D support</a:t>
            </a:r>
          </a:p>
        </p:txBody>
      </p:sp>
      <p:sp>
        <p:nvSpPr>
          <p:cNvPr id="3136" name="Column 2 marker 3"/>
          <p:cNvSpPr/>
          <p:nvPr/>
        </p:nvSpPr>
        <p:spPr>
          <a:xfrm>
            <a:off x="6053328" y="4617720"/>
            <a:ext cx="182880" cy="182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7" name="Column 2 point 3"/>
          <p:cNvSpPr txBox="1"/>
          <p:nvPr/>
        </p:nvSpPr>
        <p:spPr>
          <a:xfrm>
            <a:off x="6419088" y="45262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Goal: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stronger competitiveness amid rising competition, including China's</a:t>
            </a:r>
          </a:p>
        </p:txBody>
      </p:sp>
      <p:sp>
        <p:nvSpPr>
          <p:cNvPr id="3138" name="Takeaway banner"/>
          <p:cNvSpPr/>
          <p:nvPr/>
        </p:nvSpPr>
        <p:spPr>
          <a:xfrm>
            <a:off x="950976" y="5440680"/>
            <a:ext cx="9747504" cy="7315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Korea's strategy: move up to higher-value chips, backed by government support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1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2" name="Title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296144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/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Outlooks</a:t>
            </a:r>
          </a:p>
        </p:txBody>
      </p:sp>
      <p:sp>
        <p:nvSpPr>
          <p:cNvPr id="3103" name="Question 1 number"/>
          <p:cNvSpPr/>
          <p:nvPr/>
        </p:nvSpPr>
        <p:spPr>
          <a:xfrm>
            <a:off x="950976" y="1536192"/>
            <a:ext cx="1188720" cy="118872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</p:txBody>
      </p:sp>
      <p:sp>
        <p:nvSpPr>
          <p:cNvPr id="3104" name="Question 1 card"/>
          <p:cNvSpPr/>
          <p:nvPr/>
        </p:nvSpPr>
        <p:spPr>
          <a:xfrm>
            <a:off x="2322576" y="1536192"/>
            <a:ext cx="8924544" cy="11887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Could China overtake Korea?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China is advancing fast. Samsung and SK Hynix lead in advanced memory chips, but that lead cannot be taken for granted.</a:t>
            </a:r>
          </a:p>
        </p:txBody>
      </p:sp>
      <p:sp>
        <p:nvSpPr>
          <p:cNvPr id="3105" name="Question 2 number"/>
          <p:cNvSpPr/>
          <p:nvPr/>
        </p:nvSpPr>
        <p:spPr>
          <a:xfrm>
            <a:off x="950976" y="2834640"/>
            <a:ext cx="1188720" cy="118872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3106" name="Question 2 card"/>
          <p:cNvSpPr/>
          <p:nvPr/>
        </p:nvSpPr>
        <p:spPr>
          <a:xfrm>
            <a:off x="2322576" y="2834640"/>
            <a:ext cx="8924544" cy="11887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Specialize or diversify?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Stay focused on memory leadership, or branch into AI chip design, advanced packaging and processing-in-memory? The payoff is uncertain.</a:t>
            </a:r>
          </a:p>
        </p:txBody>
      </p:sp>
      <p:sp>
        <p:nvSpPr>
          <p:cNvPr id="3107" name="Question 3 number"/>
          <p:cNvSpPr/>
          <p:nvPr/>
        </p:nvSpPr>
        <p:spPr>
          <a:xfrm>
            <a:off x="950976" y="4133088"/>
            <a:ext cx="1188720" cy="118872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</a:p>
        </p:txBody>
      </p:sp>
      <p:sp>
        <p:nvSpPr>
          <p:cNvPr id="3108" name="Question 3 card"/>
          <p:cNvSpPr/>
          <p:nvPr/>
        </p:nvSpPr>
        <p:spPr>
          <a:xfrm>
            <a:off x="2322576" y="4133088"/>
            <a:ext cx="8924544" cy="11887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happens to bilateral trade?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Will China keep relying on Korean memory chips for its AI industry, or will self-sufficiency cut demand and reshape decades of interdependence?</a:t>
            </a:r>
          </a:p>
        </p:txBody>
      </p:sp>
      <p:sp>
        <p:nvSpPr>
          <p:cNvPr id="3109" name="Next step banner"/>
          <p:cNvSpPr/>
          <p:nvPr/>
        </p:nvSpPr>
        <p:spPr>
          <a:xfrm>
            <a:off x="950976" y="5486400"/>
            <a:ext cx="10296144" cy="6858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Next step: </a:t>
            </a:r>
            <a:r>
              <a:rPr lang="en-US" sz="20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 final research paper will explore these questions in greater depth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339</Words>
  <Application>Microsoft Macintosh PowerPoint</Application>
  <PresentationFormat>Widescreen</PresentationFormat>
  <Paragraphs>65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Times New Roman</vt:lpstr>
      <vt:lpstr>Anek Bangla</vt:lpstr>
      <vt:lpstr>Proxima Nova Semibold</vt:lpstr>
      <vt:lpstr>Albert Sans</vt:lpstr>
      <vt:lpstr>Anek Bangla Medium</vt:lpstr>
      <vt:lpstr>Proxima Nova</vt:lpstr>
      <vt:lpstr>The Four Asian Tigers: Singapore, Hong Kong, Taiwan and South Korea by Slidesgo</vt:lpstr>
      <vt:lpstr>Slidesgo Final Pages</vt:lpstr>
      <vt:lpstr>Partners to Competitors: The Changing Nature of South Korea-China Trade</vt:lpstr>
      <vt:lpstr>Background: How the Relationship Began</vt:lpstr>
      <vt:lpstr>Changing Korea-China Trade Relationship</vt:lpstr>
      <vt:lpstr>South Korea: A Global Memory Chip Leader</vt:lpstr>
      <vt:lpstr>China's Rise in Memory Chips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Youngmin Cho</cp:lastModifiedBy>
  <cp:revision>2</cp:revision>
  <dcterms:modified xsi:type="dcterms:W3CDTF">2026-10-14T07:28:10Z</dcterms:modified>
</cp:coreProperties>
</file>