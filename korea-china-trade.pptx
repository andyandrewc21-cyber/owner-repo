
<file path=[Content_Types].xml><?xml version="1.0" encoding="utf-8"?>
<Types xmlns="http://schemas.openxmlformats.org/package/2006/content-types">
  <Default Extension="xlsx" ContentType="application/vnd.openxmlformats-officedocument.spreadsheetml.sheet"/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slide+xml" PartName="/ppt/slides/slide3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ppt/charts/chart_techgap.xml" ContentType="application/vnd.openxmlformats-officedocument.drawingml.chart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  <p:sldId id="264" r:id="rId15"/>
    <p:sldId id="286" r:id="rId3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37" Type="http://schemas.openxmlformats.org/officeDocument/2006/relationships/slide" Target="slides/slide31.xml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charts/_rels/chart_techgap.xml.rels><?xml version='1.0' encoding='UTF-8' standalone='yes'?>
<Relationships xmlns="http://schemas.openxmlformats.org/package/2006/relationships"><Relationship Id="rId1" Type="http://schemas.openxmlformats.org/officeDocument/2006/relationships/package" Target="../embeddings/techgap_data.xlsx"/></Relationships>
</file>

<file path=ppt/charts/chart_techgap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Years China trails South Korea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Sheet1!$A$2:$A$4</c:f>
              <c:strCache>
                <c:ptCount val="3"/>
                <c:pt idx="0">
                  <c:v>DRAM</c:v>
                </c:pt>
                <c:pt idx="1">
                  <c:v>HBM</c:v>
                </c:pt>
                <c:pt idx="2">
                  <c:v>NAND flash</c:v>
                </c:pt>
              </c:strCache>
            </c:strRef>
          </c:cat>
          <c:val>
            <c:numRef>
              <c:f>Sheet1!$B$2:$B$4</c:f>
              <c:numCache>
                <c:formatCode>[=1]0" year";0" years"</c:formatCode>
                <c:ptCount val="3"/>
                <c:pt idx="0">
                  <c:v>2</c:v>
                </c:pt>
                <c:pt idx="1">
                  <c:v>3</c:v>
                </c:pt>
                <c:pt idx="2">
                  <c:v>1</c:v>
                </c:pt>
              </c:numCache>
            </c:numRef>
          </c:val>
        </c:ser>
        <c:dLbls>
          <c:numFmt formatCode="[=1]0&quot; year&quot;;0&quot; years&quot;" sourceLinked="0"/>
          <c:txPr>
            <a:bodyPr wrap="none"/>
            <a:lstStyle/>
            <a:p>
              <a:pPr>
                <a:defRPr sz="2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2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chemeClr val="tx1"/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<Relationship Id="rIdTechGap" Type="http://schemas.openxmlformats.org/officeDocument/2006/relationships/chart" Target="../charts/chart_techgap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395" name="Google Shape;395;p46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Background: How the Relationship Developed</a:t>
            </a:r>
          </a:p>
        </p:txBody>
      </p:sp>
      <p:sp>
        <p:nvSpPr>
          <p:cNvPr id="2001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2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3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4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5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6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7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8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9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10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1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2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3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4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5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6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7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8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404" name="Google Shape;404;p47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950976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Samsung + SK Hynix: global share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950976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4" name="Group 2 label"/>
          <p:cNvSpPr txBox="1"/>
          <p:nvPr/>
        </p:nvSpPr>
        <p:spPr>
          <a:xfrm>
            <a:off x="6281928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Weight in Korea's economy</a:t>
            </a:r>
          </a:p>
        </p:txBody>
      </p:sp>
      <p:cxnSp>
        <p:nvCxnSpPr>
          <p:cNvPr id="2045" name="Group 2 rule"/>
          <p:cNvCxnSpPr/>
          <p:nvPr/>
        </p:nvCxnSpPr>
        <p:spPr>
          <a:xfrm>
            <a:off x="6281928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950976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950976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HBM</a:t>
            </a:r>
          </a:p>
        </p:txBody>
      </p:sp>
      <p:sp>
        <p:nvSpPr>
          <p:cNvPr id="2048" name="Stat 2 value"/>
          <p:cNvSpPr txBox="1"/>
          <p:nvPr/>
        </p:nvSpPr>
        <p:spPr>
          <a:xfrm>
            <a:off x="3616452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60%+</a:t>
            </a:r>
          </a:p>
        </p:txBody>
      </p:sp>
      <p:sp>
        <p:nvSpPr>
          <p:cNvPr id="2049" name="Stat 2 label"/>
          <p:cNvSpPr txBox="1"/>
          <p:nvPr/>
        </p:nvSpPr>
        <p:spPr>
          <a:xfrm>
            <a:off x="3616452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DRAM</a:t>
            </a:r>
          </a:p>
        </p:txBody>
      </p:sp>
      <p:sp>
        <p:nvSpPr>
          <p:cNvPr id="2050" name="Stat 3 value"/>
          <p:cNvSpPr txBox="1"/>
          <p:nvPr/>
        </p:nvSpPr>
        <p:spPr>
          <a:xfrm>
            <a:off x="6281928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~48%</a:t>
            </a:r>
          </a:p>
        </p:txBody>
      </p:sp>
      <p:sp>
        <p:nvSpPr>
          <p:cNvPr id="2051" name="Stat 3 label"/>
          <p:cNvSpPr txBox="1"/>
          <p:nvPr/>
        </p:nvSpPr>
        <p:spPr>
          <a:xfrm>
            <a:off x="6281928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Korea's total exports</a:t>
            </a:r>
          </a:p>
        </p:txBody>
      </p:sp>
      <p:sp>
        <p:nvSpPr>
          <p:cNvPr id="2052" name="Stat 3 caption"/>
          <p:cNvSpPr txBox="1"/>
          <p:nvPr/>
        </p:nvSpPr>
        <p:spPr>
          <a:xfrm>
            <a:off x="6281928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Semiconductors, first 20 days of September 2026</a:t>
            </a:r>
          </a:p>
        </p:txBody>
      </p:sp>
      <p:sp>
        <p:nvSpPr>
          <p:cNvPr id="2053" name="Stat 4 value"/>
          <p:cNvSpPr txBox="1"/>
          <p:nvPr/>
        </p:nvSpPr>
        <p:spPr>
          <a:xfrm>
            <a:off x="8947404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~½</a:t>
            </a:r>
          </a:p>
        </p:txBody>
      </p:sp>
      <p:sp>
        <p:nvSpPr>
          <p:cNvPr id="2054" name="Stat 4 label"/>
          <p:cNvSpPr txBox="1"/>
          <p:nvPr/>
        </p:nvSpPr>
        <p:spPr>
          <a:xfrm>
            <a:off x="8947404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KOSPI market cap</a:t>
            </a:r>
          </a:p>
        </p:txBody>
      </p:sp>
      <p:sp>
        <p:nvSpPr>
          <p:cNvPr id="2055" name="Stat 4 caption"/>
          <p:cNvSpPr txBox="1"/>
          <p:nvPr/>
        </p:nvSpPr>
        <p:spPr>
          <a:xfrm>
            <a:off x="8947404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Samsung + SK Hynix combined</a:t>
            </a:r>
          </a:p>
        </p:txBody>
      </p:sp>
      <p:cxnSp>
        <p:nvCxnSpPr>
          <p:cNvPr id="2056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7" name="China note marker"/>
          <p:cNvSpPr/>
          <p:nvPr/>
        </p:nvSpPr>
        <p:spPr>
          <a:xfrm>
            <a:off x="950976" y="5056632"/>
            <a:ext cx="219456" cy="21945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58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driven by its vast electronics manufacturing and fast-growing AI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9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20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1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2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3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4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5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6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7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8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9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30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1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2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3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4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5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6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7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8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9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40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718" name="Google Shape;718;p69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China's Rise in Memory Chips</a:t>
            </a:r>
          </a:p>
        </p:txBody>
      </p:sp>
      <p:sp>
        <p:nvSpPr>
          <p:cNvPr id="2060" name="CXMT heading"/>
          <p:cNvSpPr txBox="1"/>
          <p:nvPr/>
        </p:nvSpPr>
        <p:spPr>
          <a:xfrm>
            <a:off x="950976" y="157276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CXMT</a:t>
            </a:r>
          </a:p>
        </p:txBody>
      </p:sp>
      <p:sp>
        <p:nvSpPr>
          <p:cNvPr id="2061" name="CXMT intro"/>
          <p:cNvSpPr txBox="1"/>
          <p:nvPr/>
        </p:nvSpPr>
        <p:spPr>
          <a:xfrm>
            <a:off x="950976" y="1938528"/>
            <a:ext cx="4434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ChangXin Memory Technologies: Chinese memory maker, founded 2016</a:t>
            </a:r>
          </a:p>
        </p:txBody>
      </p:sp>
      <p:sp>
        <p:nvSpPr>
          <p:cNvPr id="2062" name="Share before"/>
          <p:cNvSpPr txBox="1"/>
          <p:nvPr/>
        </p:nvSpPr>
        <p:spPr>
          <a:xfrm>
            <a:off x="950976" y="269748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4%</a:t>
            </a:r>
          </a:p>
        </p:txBody>
      </p:sp>
      <p:cxnSp>
        <p:nvCxnSpPr>
          <p:cNvPr id="2063" name="Share arrow"/>
          <p:cNvCxnSpPr/>
          <p:nvPr/>
        </p:nvCxnSpPr>
        <p:spPr>
          <a:xfrm>
            <a:off x="2368296" y="3131820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4" name="Share after"/>
          <p:cNvSpPr txBox="1"/>
          <p:nvPr/>
        </p:nvSpPr>
        <p:spPr>
          <a:xfrm>
            <a:off x="3328416" y="269748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10%</a:t>
            </a:r>
          </a:p>
        </p:txBody>
      </p:sp>
      <p:sp>
        <p:nvSpPr>
          <p:cNvPr id="2065" name="Share label"/>
          <p:cNvSpPr txBox="1"/>
          <p:nvPr/>
        </p:nvSpPr>
        <p:spPr>
          <a:xfrm>
            <a:off x="950976" y="358444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Global DRAM share, over the past year</a:t>
            </a:r>
          </a:p>
        </p:txBody>
      </p:sp>
      <p:sp>
        <p:nvSpPr>
          <p:cNvPr id="2066" name="Rank value"/>
          <p:cNvSpPr txBox="1"/>
          <p:nvPr/>
        </p:nvSpPr>
        <p:spPr>
          <a:xfrm>
            <a:off x="950976" y="4160520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#4</a:t>
            </a:r>
          </a:p>
        </p:txBody>
      </p:sp>
      <p:sp>
        <p:nvSpPr>
          <p:cNvPr id="2067" name="Rank text"/>
          <p:cNvSpPr txBox="1"/>
          <p:nvPr/>
        </p:nvSpPr>
        <p:spPr>
          <a:xfrm>
            <a:off x="2139696" y="4114800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in DRAM worldwide, behind Samsung, SK Hynix and Micron (US)</a:t>
            </a:r>
          </a:p>
        </p:txBody>
      </p:sp>
      <p:cxnSp>
        <p:nvCxnSpPr>
          <p:cNvPr id="2069" name="Column divider"/>
          <p:cNvCxnSpPr/>
          <p:nvPr/>
        </p:nvCxnSpPr>
        <p:spPr>
          <a:xfrm>
            <a:off x="5669280" y="1645920"/>
            <a:ext cx="0" cy="3429000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0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China is only 1–3 years behind Korea</a:t>
            </a:r>
          </a:p>
        </p:txBody>
      </p:sp>
      <p:graphicFrame>
        <p:nvGraphicFramePr>
          <p:cNvPr id="2074" name="Technology gap chart"/>
          <p:cNvGraphicFramePr>
            <a:graphicFrameLocks noGrp="1"/>
          </p:cNvGraphicFramePr>
          <p:nvPr/>
        </p:nvGraphicFramePr>
        <p:xfrm>
          <a:off x="5897880" y="2011680"/>
          <a:ext cx="5440680" cy="2514600"/>
        </p:xfrm>
        <a:graphic>
          <a:graphicData uri="http://schemas.openxmlformats.org/drawingml/2006/chart">
            <c:chart xmlns:c="http://schemas.openxmlformats.org/drawingml/2006/chart" r:id="rIdTechGap"/>
          </a:graphicData>
        </a:graphic>
      </p:graphicFrame>
      <p:sp>
        <p:nvSpPr>
          <p:cNvPr id="2071" name="Gap source"/>
          <p:cNvSpPr txBox="1"/>
          <p:nvPr/>
        </p:nvSpPr>
        <p:spPr>
          <a:xfrm>
            <a:off x="5989320" y="4526280"/>
            <a:ext cx="5257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Source: Korea Semiconductor Industry Association, September 2026</a:t>
            </a:r>
          </a:p>
        </p:txBody>
      </p:sp>
      <p:sp>
        <p:nvSpPr>
          <p:cNvPr id="2072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customer to competitor,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</a:t>
            </a:r>
          </a:p>
        </p:txBody>
      </p:sp>
      <p:sp>
        <p:nvSpPr>
          <p:cNvPr id="2073" name="Next topic"/>
          <p:cNvSpPr txBox="1"/>
          <p:nvPr/>
        </p:nvSpPr>
        <p:spPr>
          <a:xfrm>
            <a:off x="3931920" y="6172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impact on South Korea's semiconductor industry and economy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