
<file path=[Content_Types].xml><?xml version="1.0" encoding="utf-8"?>
<Types xmlns="http://schemas.openxmlformats.org/package/2006/content-types">
  <Default Extension="xlsx" ContentType="application/vnd.openxmlformats-officedocument.spreadsheetml.sheet"/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8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9.xml"/>
  <Override ContentType="application/vnd.openxmlformats-officedocument.presentationml.slide+xml" PartName="/ppt/slides/slide8.xml"/>
  <Override ContentType="application/vnd.openxmlformats-officedocument.presentationml.slide+xml" PartName="/ppt/slides/slide1.xml"/>
  <Override ContentType="application/vnd.openxmlformats-officedocument.presentationml.slide+xml" PartName="/ppt/slides/slide3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PartName="/ppt/charts/chart_techgap.xml" ContentType="application/vnd.openxmlformats-officedocument.drawingml.chart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4"/>
    <p:sldMasterId id="2147483685" r:id="rId5"/>
  </p:sldMasterIdLst>
  <p:notesMasterIdLst>
    <p:notesMasterId r:id="rId6"/>
  </p:notesMasterIdLst>
  <p:sldIdLst>
    <p:sldId id="256" r:id="rId7"/>
    <p:sldId id="263" r:id="rId14"/>
    <p:sldId id="266" r:id="rId17"/>
    <p:sldId id="264" r:id="rId15"/>
    <p:sldId id="286" r:id="rId37"/>
  </p:sldIdLst>
  <p:sldSz cx="12192000" cy="6858000"/>
  <p:notesSz cx="6858000" cy="9144000"/>
  <p:embeddedFontLst>
    <p:embeddedFont>
      <p:font typeface="Krona One"/>
      <p:regular r:id="rId62"/>
    </p:embeddedFont>
    <p:embeddedFont>
      <p:font typeface="Proxima Nova"/>
      <p:regular r:id="rId63"/>
      <p:bold r:id="rId64"/>
      <p:italic r:id="rId65"/>
      <p:boldItalic r:id="rId66"/>
    </p:embeddedFont>
    <p:embeddedFont>
      <p:font typeface="Roboto Medium"/>
      <p:regular r:id="rId67"/>
      <p:bold r:id="rId68"/>
      <p:italic r:id="rId69"/>
      <p:boldItalic r:id="rId70"/>
    </p:embeddedFont>
    <p:embeddedFont>
      <p:font typeface="Golos Text Medium"/>
      <p:regular r:id="rId71"/>
      <p:bold r:id="rId72"/>
    </p:embeddedFont>
    <p:embeddedFont>
      <p:font typeface="Anek Bangla Light"/>
      <p:regular r:id="rId73"/>
      <p:bold r:id="rId74"/>
    </p:embeddedFont>
    <p:embeddedFont>
      <p:font typeface="Proxima Nova Semibold"/>
      <p:regular r:id="rId75"/>
      <p:bold r:id="rId76"/>
      <p:boldItalic r:id="rId77"/>
    </p:embeddedFont>
    <p:embeddedFont>
      <p:font typeface="Amatic SC"/>
      <p:regular r:id="rId78"/>
      <p:bold r:id="rId79"/>
    </p:embeddedFont>
    <p:embeddedFont>
      <p:font typeface="Anek Bangla"/>
      <p:regular r:id="rId80"/>
      <p:bold r:id="rId81"/>
    </p:embeddedFont>
    <p:embeddedFont>
      <p:font typeface="Albert Sans"/>
      <p:regular r:id="rId82"/>
      <p:bold r:id="rId83"/>
      <p:italic r:id="rId84"/>
      <p:boldItalic r:id="rId85"/>
    </p:embeddedFont>
    <p:embeddedFont>
      <p:font typeface="Anek Bangla Medium"/>
      <p:regular r:id="rId86"/>
      <p:bold r:id="rId87"/>
    </p:embeddedFont>
    <p:embeddedFont>
      <p:font typeface="Open Sans"/>
      <p:regular r:id="rId88"/>
      <p:bold r:id="rId89"/>
      <p:italic r:id="rId90"/>
      <p:boldItalic r:id="rId91"/>
    </p:embeddedFont>
    <p:embeddedFont>
      <p:font typeface="Karla"/>
      <p:regular r:id="rId92"/>
      <p:bold r:id="rId93"/>
      <p:italic r:id="rId94"/>
      <p:boldItalic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84" Type="http://schemas.openxmlformats.org/officeDocument/2006/relationships/font" Target="fonts/AlbertSans-italic.fntdata"/><Relationship Id="rId83" Type="http://schemas.openxmlformats.org/officeDocument/2006/relationships/font" Target="fonts/AlbertSans-bold.fntdata"/><Relationship Id="rId86" Type="http://schemas.openxmlformats.org/officeDocument/2006/relationships/font" Target="fonts/AnekBanglaMedium-regular.fntdata"/><Relationship Id="rId85" Type="http://schemas.openxmlformats.org/officeDocument/2006/relationships/font" Target="fonts/AlbertSans-boldItalic.fntdata"/><Relationship Id="rId88" Type="http://schemas.openxmlformats.org/officeDocument/2006/relationships/font" Target="fonts/OpenSans-regular.fntdata"/><Relationship Id="rId87" Type="http://schemas.openxmlformats.org/officeDocument/2006/relationships/font" Target="fonts/AnekBanglaMedium-bold.fntdata"/><Relationship Id="rId89" Type="http://schemas.openxmlformats.org/officeDocument/2006/relationships/font" Target="fonts/OpenSans-bold.fntdata"/><Relationship Id="rId80" Type="http://schemas.openxmlformats.org/officeDocument/2006/relationships/font" Target="fonts/AnekBangla-regular.fntdata"/><Relationship Id="rId82" Type="http://schemas.openxmlformats.org/officeDocument/2006/relationships/font" Target="fonts/AlbertSans-regular.fntdata"/><Relationship Id="rId81" Type="http://schemas.openxmlformats.org/officeDocument/2006/relationships/font" Target="fonts/AnekBangla-bold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3" Type="http://schemas.openxmlformats.org/officeDocument/2006/relationships/font" Target="fonts/AnekBanglaLight-regular.fntdata"/><Relationship Id="rId72" Type="http://schemas.openxmlformats.org/officeDocument/2006/relationships/font" Target="fonts/GolosTextMedium-bold.fntdata"/><Relationship Id="rId75" Type="http://schemas.openxmlformats.org/officeDocument/2006/relationships/font" Target="fonts/ProximaNovaSemibold-regular.fntdata"/><Relationship Id="rId74" Type="http://schemas.openxmlformats.org/officeDocument/2006/relationships/font" Target="fonts/AnekBanglaLight-bold.fntdata"/><Relationship Id="rId77" Type="http://schemas.openxmlformats.org/officeDocument/2006/relationships/font" Target="fonts/ProximaNovaSemibold-boldItalic.fntdata"/><Relationship Id="rId76" Type="http://schemas.openxmlformats.org/officeDocument/2006/relationships/font" Target="fonts/ProximaNovaSemibold-bold.fntdata"/><Relationship Id="rId79" Type="http://schemas.openxmlformats.org/officeDocument/2006/relationships/font" Target="fonts/AmaticSC-bold.fntdata"/><Relationship Id="rId78" Type="http://schemas.openxmlformats.org/officeDocument/2006/relationships/font" Target="fonts/AmaticSC-regular.fntdata"/><Relationship Id="rId71" Type="http://schemas.openxmlformats.org/officeDocument/2006/relationships/font" Target="fonts/GolosTextMedium-regular.fntdata"/><Relationship Id="rId70" Type="http://schemas.openxmlformats.org/officeDocument/2006/relationships/font" Target="fonts/RobotoMedium-boldItalic.fntdata"/><Relationship Id="rId37" Type="http://schemas.openxmlformats.org/officeDocument/2006/relationships/slide" Target="slides/slide31.xml"/><Relationship Id="rId62" Type="http://schemas.openxmlformats.org/officeDocument/2006/relationships/font" Target="fonts/KronaOne-regular.fntdata"/><Relationship Id="rId64" Type="http://schemas.openxmlformats.org/officeDocument/2006/relationships/font" Target="fonts/ProximaNova-bold.fntdata"/><Relationship Id="rId63" Type="http://schemas.openxmlformats.org/officeDocument/2006/relationships/font" Target="fonts/ProximaNova-regular.fntdata"/><Relationship Id="rId66" Type="http://schemas.openxmlformats.org/officeDocument/2006/relationships/font" Target="fonts/ProximaNova-boldItalic.fntdata"/><Relationship Id="rId65" Type="http://schemas.openxmlformats.org/officeDocument/2006/relationships/font" Target="fonts/ProximaNova-italic.fntdata"/><Relationship Id="rId68" Type="http://schemas.openxmlformats.org/officeDocument/2006/relationships/font" Target="fonts/RobotoMedium-bold.fntdata"/><Relationship Id="rId67" Type="http://schemas.openxmlformats.org/officeDocument/2006/relationships/font" Target="fonts/RobotoMedium-regular.fntdata"/><Relationship Id="rId69" Type="http://schemas.openxmlformats.org/officeDocument/2006/relationships/font" Target="fonts/RobotoMedium-italic.fntdata"/><Relationship Id="rId95" Type="http://schemas.openxmlformats.org/officeDocument/2006/relationships/font" Target="fonts/Karla-boldItalic.fntdata"/><Relationship Id="rId94" Type="http://schemas.openxmlformats.org/officeDocument/2006/relationships/font" Target="fonts/Karla-italic.fntdata"/><Relationship Id="rId91" Type="http://schemas.openxmlformats.org/officeDocument/2006/relationships/font" Target="fonts/OpenSans-boldItalic.fntdata"/><Relationship Id="rId90" Type="http://schemas.openxmlformats.org/officeDocument/2006/relationships/font" Target="fonts/OpenSans-italic.fntdata"/><Relationship Id="rId93" Type="http://schemas.openxmlformats.org/officeDocument/2006/relationships/font" Target="fonts/Karla-bold.fntdata"/><Relationship Id="rId92" Type="http://schemas.openxmlformats.org/officeDocument/2006/relationships/font" Target="fonts/Karla-regular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/Relationships>
</file>

<file path=ppt/charts/_rels/chart_techgap.xml.rels><?xml version='1.0' encoding='UTF-8' standalone='yes'?>
<Relationships xmlns="http://schemas.openxmlformats.org/package/2006/relationships"><Relationship Id="rId1" Type="http://schemas.openxmlformats.org/officeDocument/2006/relationships/package" Target="../embeddings/techgap_data.xlsx"/></Relationships>
</file>

<file path=ppt/charts/chart_techgap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Years China trails South Korea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Sheet1!$A$2:$A$4</c:f>
              <c:strCache>
                <c:ptCount val="3"/>
                <c:pt idx="0">
                  <c:v>DRAM</c:v>
                </c:pt>
                <c:pt idx="1">
                  <c:v>HBM</c:v>
                </c:pt>
                <c:pt idx="2">
                  <c:v>NAND flash</c:v>
                </c:pt>
              </c:strCache>
            </c:strRef>
          </c:cat>
          <c:val>
            <c:numRef>
              <c:f>Sheet1!$B$2:$B$4</c:f>
              <c:numCache>
                <c:formatCode>[=1]0" year";0" years"</c:formatCode>
                <c:ptCount val="3"/>
                <c:pt idx="0">
                  <c:v>2</c:v>
                </c:pt>
                <c:pt idx="1">
                  <c:v>3</c:v>
                </c:pt>
                <c:pt idx="2">
                  <c:v>1</c:v>
                </c:pt>
              </c:numCache>
            </c:numRef>
          </c:val>
        </c:ser>
        <c:dLbls>
          <c:numFmt formatCode="[=1]0&quot; year&quot;;0&quot; years&quot;" sourceLinked="0"/>
          <c:txPr>
            <a:bodyPr wrap="none"/>
            <a:lstStyle/>
            <a:p>
              <a:pPr>
                <a:defRPr sz="2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2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chemeClr val="tx1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subTitle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/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2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/>
          <p:nvPr>
            <p:ph idx="2" type="pic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subTitle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61" name="Google Shape;61;p11"/>
          <p:cNvGrpSpPr/>
          <p:nvPr/>
        </p:nvGrpSpPr>
        <p:grpSpPr>
          <a:xfrm flipH="1" rot="5400000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6">
    <p:bg>
      <p:bgPr>
        <a:solidFill>
          <a:schemeClr val="accent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hasCustomPrompt="1" idx="2" type="title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2" type="subTitle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6" name="Google Shape;76;p14"/>
          <p:cNvSpPr txBox="1"/>
          <p:nvPr>
            <p:ph idx="3" type="subTitle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7" name="Google Shape;77;p14"/>
          <p:cNvSpPr txBox="1"/>
          <p:nvPr>
            <p:ph idx="4" type="subTitle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8" name="Google Shape;78;p14"/>
          <p:cNvSpPr txBox="1"/>
          <p:nvPr>
            <p:ph idx="5" type="subTitle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9" name="Google Shape;79;p14"/>
          <p:cNvSpPr txBox="1"/>
          <p:nvPr>
            <p:ph idx="6" type="subTitle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/>
          <p:nvPr>
            <p:ph hasCustomPrompt="1" type="title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/>
          <p:nvPr>
            <p:ph hasCustomPrompt="1" idx="7" type="title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/>
          <p:nvPr>
            <p:ph hasCustomPrompt="1" idx="8" type="title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/>
          <p:nvPr>
            <p:ph hasCustomPrompt="1" idx="9" type="title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/>
          <p:nvPr>
            <p:ph hasCustomPrompt="1" idx="13" type="title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/>
          <p:nvPr>
            <p:ph hasCustomPrompt="1" idx="14" type="title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/>
          <p:nvPr>
            <p:ph idx="15"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idx="1" type="subTitle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97" name="Google Shape;97;p1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2" type="subTitle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99" name="Google Shape;99;p15"/>
          <p:cNvSpPr txBox="1"/>
          <p:nvPr>
            <p:ph idx="3" type="subTitle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0" name="Google Shape;100;p15"/>
          <p:cNvSpPr txBox="1"/>
          <p:nvPr>
            <p:ph idx="4" type="subTitle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idx="1" type="subTitle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9" name="Google Shape;109;p1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idx="2" type="subTitle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1" name="Google Shape;111;p16"/>
          <p:cNvSpPr txBox="1"/>
          <p:nvPr>
            <p:ph idx="3" type="subTitle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2" name="Google Shape;112;p16"/>
          <p:cNvSpPr txBox="1"/>
          <p:nvPr>
            <p:ph idx="4" type="subTitle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3" name="Google Shape;113;p16"/>
          <p:cNvSpPr txBox="1"/>
          <p:nvPr>
            <p:ph idx="5" type="subTitle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4" name="Google Shape;114;p16"/>
          <p:cNvSpPr txBox="1"/>
          <p:nvPr>
            <p:ph idx="6" type="subTitle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15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idx="1" type="subTitle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0" name="Google Shape;120;p1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2" type="subTitle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2" name="Google Shape;122;p17"/>
          <p:cNvSpPr txBox="1"/>
          <p:nvPr>
            <p:ph idx="3" type="subTitle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3" name="Google Shape;123;p17"/>
          <p:cNvSpPr txBox="1"/>
          <p:nvPr>
            <p:ph idx="4" type="subTitle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4" name="Google Shape;124;p17"/>
          <p:cNvSpPr txBox="1"/>
          <p:nvPr>
            <p:ph idx="5" type="subTitle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5" name="Google Shape;125;p17"/>
          <p:cNvSpPr txBox="1"/>
          <p:nvPr>
            <p:ph idx="6" type="subTitle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/>
          <p:nvPr>
            <p:ph idx="1" type="subTitle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4" name="Google Shape;134;p1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2" type="subTitle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6" name="Google Shape;136;p18"/>
          <p:cNvSpPr txBox="1"/>
          <p:nvPr>
            <p:ph idx="3" type="subTitle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7" name="Google Shape;137;p18"/>
          <p:cNvSpPr txBox="1"/>
          <p:nvPr>
            <p:ph idx="4" type="subTitle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8" name="Google Shape;138;p18"/>
          <p:cNvSpPr txBox="1"/>
          <p:nvPr>
            <p:ph idx="5" type="subTitle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9" name="Google Shape;139;p18"/>
          <p:cNvSpPr txBox="1"/>
          <p:nvPr>
            <p:ph idx="6" type="subTitle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40" name="Google Shape;140;p18"/>
          <p:cNvSpPr txBox="1"/>
          <p:nvPr>
            <p:ph idx="7" type="subTitle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41" name="Google Shape;141;p18"/>
          <p:cNvSpPr txBox="1"/>
          <p:nvPr>
            <p:ph idx="8" type="subTitle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/>
          <p:nvPr>
            <p:ph idx="1" type="subTitle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1" name="Google Shape;151;p1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2" type="subTitle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3" name="Google Shape;153;p19"/>
          <p:cNvSpPr txBox="1"/>
          <p:nvPr>
            <p:ph idx="3" type="subTitle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4" name="Google Shape;154;p19"/>
          <p:cNvSpPr txBox="1"/>
          <p:nvPr>
            <p:ph idx="4" type="subTitle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5" name="Google Shape;155;p19"/>
          <p:cNvSpPr txBox="1"/>
          <p:nvPr>
            <p:ph idx="5" type="subTitle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6" name="Google Shape;156;p19"/>
          <p:cNvSpPr txBox="1"/>
          <p:nvPr>
            <p:ph idx="6" type="subTitle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7" name="Google Shape;157;p19"/>
          <p:cNvSpPr txBox="1"/>
          <p:nvPr>
            <p:ph idx="7" type="subTitle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8" name="Google Shape;158;p19"/>
          <p:cNvSpPr txBox="1"/>
          <p:nvPr>
            <p:ph idx="8" type="subTitle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9" name="Google Shape;159;p19"/>
          <p:cNvSpPr txBox="1"/>
          <p:nvPr>
            <p:ph idx="9" type="subTitle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0" name="Google Shape;160;p19"/>
          <p:cNvSpPr txBox="1"/>
          <p:nvPr>
            <p:ph idx="13" type="subTitle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61" name="Google Shape;161;p19"/>
          <p:cNvSpPr txBox="1"/>
          <p:nvPr>
            <p:ph idx="14" type="subTitle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2" name="Google Shape;162;p19"/>
          <p:cNvSpPr txBox="1"/>
          <p:nvPr>
            <p:ph idx="15" type="subTitle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ight columns">
  <p:cSld name="CUSTOM_17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/>
          <p:nvPr>
            <p:ph idx="1" type="subTitle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69" name="Google Shape;169;p20"/>
          <p:cNvSpPr txBox="1"/>
          <p:nvPr>
            <p:ph idx="2" type="subTitle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0" name="Google Shape;170;p20"/>
          <p:cNvSpPr txBox="1"/>
          <p:nvPr>
            <p:ph idx="3" type="subTitle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1" name="Google Shape;171;p20"/>
          <p:cNvSpPr txBox="1"/>
          <p:nvPr>
            <p:ph idx="4" type="subTitle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2" name="Google Shape;172;p20"/>
          <p:cNvSpPr txBox="1"/>
          <p:nvPr>
            <p:ph idx="5" type="subTitle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3" name="Google Shape;173;p20"/>
          <p:cNvSpPr txBox="1"/>
          <p:nvPr>
            <p:ph idx="6" type="subTitle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4" name="Google Shape;174;p20"/>
          <p:cNvSpPr txBox="1"/>
          <p:nvPr>
            <p:ph idx="7" type="subTitle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5" name="Google Shape;175;p20"/>
          <p:cNvSpPr txBox="1"/>
          <p:nvPr>
            <p:ph idx="8" type="subTitle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6" name="Google Shape;176;p20"/>
          <p:cNvSpPr txBox="1"/>
          <p:nvPr>
            <p:ph idx="9" type="subTitle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7" name="Google Shape;177;p20"/>
          <p:cNvSpPr txBox="1"/>
          <p:nvPr>
            <p:ph idx="13" type="subTitle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8" name="Google Shape;178;p20"/>
          <p:cNvSpPr txBox="1"/>
          <p:nvPr>
            <p:ph idx="14" type="subTitle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9" name="Google Shape;179;p20"/>
          <p:cNvSpPr txBox="1"/>
          <p:nvPr>
            <p:ph idx="15" type="subTitle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0" name="Google Shape;180;p20"/>
          <p:cNvSpPr txBox="1"/>
          <p:nvPr>
            <p:ph idx="16" type="subTitle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1" name="Google Shape;181;p20"/>
          <p:cNvSpPr txBox="1"/>
          <p:nvPr>
            <p:ph idx="17" type="subTitle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2" name="Google Shape;182;p20"/>
          <p:cNvSpPr txBox="1"/>
          <p:nvPr>
            <p:ph idx="18" type="subTitle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3" name="Google Shape;183;p20"/>
          <p:cNvSpPr txBox="1"/>
          <p:nvPr>
            <p:ph idx="19" type="subTitle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6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1" type="subTitle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93" name="Google Shape;193;p21"/>
          <p:cNvSpPr/>
          <p:nvPr>
            <p:ph idx="2" type="pic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8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/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9" name="Google Shape;199;p22"/>
          <p:cNvSpPr txBox="1"/>
          <p:nvPr>
            <p:ph idx="1" type="subTitle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9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/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23"/>
          <p:cNvSpPr txBox="1"/>
          <p:nvPr>
            <p:ph idx="1" type="subTitle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0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" type="subTitle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8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4" name="Google Shape;224;p25"/>
          <p:cNvSpPr txBox="1"/>
          <p:nvPr>
            <p:ph idx="1" type="subTitle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20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3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4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57" name="Google Shape;257;p30"/>
          <p:cNvGrpSpPr/>
          <p:nvPr/>
        </p:nvGrpSpPr>
        <p:grpSpPr>
          <a:xfrm flipH="1" rot="5400000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7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/>
          <p:nvPr>
            <p:ph hasCustomPrompt="1" type="title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/>
          <p:nvPr>
            <p:ph idx="1" type="subTitle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31"/>
          <p:cNvSpPr txBox="1"/>
          <p:nvPr>
            <p:ph hasCustomPrompt="1" idx="2" type="title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/>
          <p:nvPr>
            <p:ph idx="3" type="subTitle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31"/>
          <p:cNvSpPr txBox="1"/>
          <p:nvPr>
            <p:ph hasCustomPrompt="1" idx="4" type="title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/>
          <p:nvPr>
            <p:ph idx="5" type="subTitle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9" name="Google Shape;269;p31"/>
          <p:cNvGrpSpPr/>
          <p:nvPr/>
        </p:nvGrpSpPr>
        <p:grpSpPr>
          <a:xfrm flipH="1" rot="5400000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/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7" name="Google Shape;277;p32"/>
          <p:cNvSpPr txBox="1"/>
          <p:nvPr>
            <p:ph idx="1" type="subTitle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/>
        </p:txBody>
      </p:sp>
      <p:grpSp>
        <p:nvGrpSpPr>
          <p:cNvPr id="278" name="Google Shape;278;p32"/>
          <p:cNvGrpSpPr/>
          <p:nvPr/>
        </p:nvGrpSpPr>
        <p:grpSpPr>
          <a:xfrm flipH="1" rot="10800000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9">
    <p:bg>
      <p:bgPr>
        <a:solidFill>
          <a:schemeClr val="accen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/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33"/>
          <p:cNvSpPr txBox="1"/>
          <p:nvPr>
            <p:ph idx="1" type="subTitle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b="1" sz="1467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21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22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/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/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306" name="Google Shape;306;p36"/>
          <p:cNvSpPr txBox="1"/>
          <p:nvPr>
            <p:ph idx="1" type="body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1.xml"/><Relationship Id="rIdTechGap" Type="http://schemas.openxmlformats.org/officeDocument/2006/relationships/chart" Target="../charts/chart_techgap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4400" dirty="0"/>
              <a:t>From Partners to Competitors: The Changing Nature of South Korea-China Trade</a:t>
            </a:r>
          </a:p>
        </p:txBody>
      </p:sp>
      <p:sp>
        <p:nvSpPr>
          <p:cNvPr id="315" name="Google Shape;315;p39"/>
          <p:cNvSpPr txBox="1"/>
          <p:nvPr>
            <p:ph idx="1" type="subTitle"/>
          </p:nvPr>
        </p:nvSpPr>
        <p:spPr>
          <a:xfrm>
            <a:off x="1271016" y="5257800"/>
            <a:ext cx="5943600" cy="548640"/>
          </a:xfr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2000" dirty="0"/>
              <a:t>Presenter Name | Course | Date</a:t>
            </a:r>
          </a:p>
        </p:txBody>
      </p:sp>
      <p:cxnSp>
        <p:nvCxnSpPr>
          <p:cNvPr id="316" name="Google Shape;316;p39"/>
          <p:cNvCxnSpPr/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cap="flat" cmpd="sng" w="12700">
            <a:solidFill>
              <a:srgbClr val="27272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17" name="Google Shape;317;p39"/>
          <p:cNvGrpSpPr/>
          <p:nvPr/>
        </p:nvGrpSpPr>
        <p:grpSpPr>
          <a:xfrm>
            <a:off x="9485233" y="0"/>
            <a:ext cx="2784400" cy="6858000"/>
            <a:chOff x="9485233" y="0"/>
            <a:chExt cx="2784400" cy="6858000"/>
          </a:xfrm>
        </p:grpSpPr>
        <p:sp>
          <p:nvSpPr>
            <p:cNvPr id="318" name="Google Shape;318;p39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19" name="Google Shape;319;p39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0" name="Google Shape;320;p39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395" name="Google Shape;395;p46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Background: How the Relationship Developed</a:t>
            </a:r>
          </a:p>
        </p:txBody>
      </p:sp>
      <p:sp>
        <p:nvSpPr>
          <p:cNvPr id="2001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1992</a:t>
            </a:r>
          </a:p>
        </p:txBody>
      </p:sp>
      <p:sp>
        <p:nvSpPr>
          <p:cNvPr id="2002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$6.4B</a:t>
            </a:r>
          </a:p>
        </p:txBody>
      </p:sp>
      <p:sp>
        <p:nvSpPr>
          <p:cNvPr id="2003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Diplomatic ties established</a:t>
            </a:r>
          </a:p>
        </p:txBody>
      </p:sp>
      <p:sp>
        <p:nvSpPr>
          <p:cNvPr id="2004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2025</a:t>
            </a:r>
          </a:p>
        </p:txBody>
      </p:sp>
      <p:sp>
        <p:nvSpPr>
          <p:cNvPr id="2005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$273B</a:t>
            </a:r>
          </a:p>
        </p:txBody>
      </p:sp>
      <p:sp>
        <p:nvSpPr>
          <p:cNvPr id="2006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More than 40x the 1992 level</a:t>
            </a:r>
          </a:p>
        </p:txBody>
      </p:sp>
      <p:sp>
        <p:nvSpPr>
          <p:cNvPr id="2007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Trading partner</a:t>
            </a:r>
          </a:p>
        </p:txBody>
      </p:sp>
      <p:sp>
        <p:nvSpPr>
          <p:cNvPr id="2008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#1</a:t>
            </a:r>
          </a:p>
        </p:txBody>
      </p:sp>
      <p:sp>
        <p:nvSpPr>
          <p:cNvPr id="2009" name="Stat 3 caption"/>
          <p:cNvSpPr txBox="1"/>
          <p:nvPr/>
        </p:nvSpPr>
        <p:spPr>
          <a:xfrm>
            <a:off x="8046720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China's rank for Korea, 22 consecutive years</a:t>
            </a:r>
          </a:p>
        </p:txBody>
      </p:sp>
      <p:cxnSp>
        <p:nvCxnSpPr>
          <p:cNvPr id="2010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1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A complementary production relationship: both sides benefited</a:t>
            </a:r>
          </a:p>
        </p:txBody>
      </p:sp>
      <p:sp>
        <p:nvSpPr>
          <p:cNvPr id="2012" name="Economy 1"/>
          <p:cNvSpPr/>
          <p:nvPr/>
        </p:nvSpPr>
        <p:spPr>
          <a:xfrm>
            <a:off x="950976" y="4224528"/>
            <a:ext cx="3429000" cy="1810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Higher-value intermediate goods: semiconductors, electronic components, petrochemicals</a:t>
            </a:r>
          </a:p>
        </p:txBody>
      </p:sp>
      <p:sp>
        <p:nvSpPr>
          <p:cNvPr id="2013" name="Economy 2"/>
          <p:cNvSpPr/>
          <p:nvPr/>
        </p:nvSpPr>
        <p:spPr>
          <a:xfrm>
            <a:off x="7818120" y="4224528"/>
            <a:ext cx="3429000" cy="181051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Imported them to make finished products: smartphones, computers, consumer electronics</a:t>
            </a:r>
          </a:p>
        </p:txBody>
      </p:sp>
      <p:cxnSp>
        <p:nvCxnSpPr>
          <p:cNvPr id="2014" name="Arrow: components to China"/>
          <p:cNvCxnSpPr/>
          <p:nvPr/>
        </p:nvCxnSpPr>
        <p:spPr>
          <a:xfrm>
            <a:off x="4489704" y="481888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5" name="Label: components"/>
          <p:cNvSpPr txBox="1"/>
          <p:nvPr/>
        </p:nvSpPr>
        <p:spPr>
          <a:xfrm>
            <a:off x="4379976" y="436168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Components &amp; technology</a:t>
            </a:r>
          </a:p>
        </p:txBody>
      </p:sp>
      <p:cxnSp>
        <p:nvCxnSpPr>
          <p:cNvPr id="2016" name="Arrow: market access to Korea"/>
          <p:cNvCxnSpPr/>
          <p:nvPr/>
        </p:nvCxnSpPr>
        <p:spPr>
          <a:xfrm flipH="1">
            <a:off x="4489704" y="544068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7" name="Label: market access"/>
          <p:cNvSpPr txBox="1"/>
          <p:nvPr/>
        </p:nvSpPr>
        <p:spPr>
          <a:xfrm>
            <a:off x="4379976" y="551383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Access to a vast market</a:t>
            </a:r>
          </a:p>
        </p:txBody>
      </p:sp>
      <p:sp>
        <p:nvSpPr>
          <p:cNvPr id="2018" name="Transition line"/>
          <p:cNvSpPr txBox="1"/>
          <p:nvPr/>
        </p:nvSpPr>
        <p:spPr>
          <a:xfrm>
            <a:off x="950976" y="617220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China's own industrial capabilities have expanded, and the relationship is evolving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404" name="Google Shape;404;p47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950976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Samsung + SK Hynix: global share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950976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4" name="Group 2 label"/>
          <p:cNvSpPr txBox="1"/>
          <p:nvPr/>
        </p:nvSpPr>
        <p:spPr>
          <a:xfrm>
            <a:off x="6281928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Weight in Korea's economy</a:t>
            </a:r>
          </a:p>
        </p:txBody>
      </p:sp>
      <p:cxnSp>
        <p:nvCxnSpPr>
          <p:cNvPr id="2045" name="Group 2 rule"/>
          <p:cNvCxnSpPr/>
          <p:nvPr/>
        </p:nvCxnSpPr>
        <p:spPr>
          <a:xfrm>
            <a:off x="6281928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950976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950976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HBM</a:t>
            </a:r>
          </a:p>
        </p:txBody>
      </p:sp>
      <p:sp>
        <p:nvSpPr>
          <p:cNvPr id="2048" name="Stat 1 caption"/>
          <p:cNvSpPr txBox="1"/>
          <p:nvPr/>
        </p:nvSpPr>
        <p:spPr>
          <a:xfrm>
            <a:off x="950976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HBM: high-speed data processing, especially for AI</a:t>
            </a:r>
          </a:p>
        </p:txBody>
      </p:sp>
      <p:sp>
        <p:nvSpPr>
          <p:cNvPr id="2049" name="Stat 2 value"/>
          <p:cNvSpPr txBox="1"/>
          <p:nvPr/>
        </p:nvSpPr>
        <p:spPr>
          <a:xfrm>
            <a:off x="3616452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60%+</a:t>
            </a:r>
          </a:p>
        </p:txBody>
      </p:sp>
      <p:sp>
        <p:nvSpPr>
          <p:cNvPr id="2050" name="Stat 2 label"/>
          <p:cNvSpPr txBox="1"/>
          <p:nvPr/>
        </p:nvSpPr>
        <p:spPr>
          <a:xfrm>
            <a:off x="3616452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DRAM</a:t>
            </a:r>
          </a:p>
        </p:txBody>
      </p:sp>
      <p:sp>
        <p:nvSpPr>
          <p:cNvPr id="2051" name="Stat 2 caption"/>
          <p:cNvSpPr txBox="1"/>
          <p:nvPr/>
        </p:nvSpPr>
        <p:spPr>
          <a:xfrm>
            <a:off x="3616452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DRAM: temporary data storage</a:t>
            </a:r>
          </a:p>
        </p:txBody>
      </p:sp>
      <p:sp>
        <p:nvSpPr>
          <p:cNvPr id="2052" name="Stat 3 value"/>
          <p:cNvSpPr txBox="1"/>
          <p:nvPr/>
        </p:nvSpPr>
        <p:spPr>
          <a:xfrm>
            <a:off x="6281928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~48%</a:t>
            </a:r>
          </a:p>
        </p:txBody>
      </p:sp>
      <p:sp>
        <p:nvSpPr>
          <p:cNvPr id="2053" name="Stat 3 label"/>
          <p:cNvSpPr txBox="1"/>
          <p:nvPr/>
        </p:nvSpPr>
        <p:spPr>
          <a:xfrm>
            <a:off x="6281928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Korea's total exports</a:t>
            </a:r>
          </a:p>
        </p:txBody>
      </p:sp>
      <p:sp>
        <p:nvSpPr>
          <p:cNvPr id="2054" name="Stat 3 caption"/>
          <p:cNvSpPr txBox="1"/>
          <p:nvPr/>
        </p:nvSpPr>
        <p:spPr>
          <a:xfrm>
            <a:off x="6281928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Semiconductors, first 20 days of September 2026</a:t>
            </a:r>
          </a:p>
        </p:txBody>
      </p:sp>
      <p:sp>
        <p:nvSpPr>
          <p:cNvPr id="2055" name="Stat 4 value"/>
          <p:cNvSpPr txBox="1"/>
          <p:nvPr/>
        </p:nvSpPr>
        <p:spPr>
          <a:xfrm>
            <a:off x="8947404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~½</a:t>
            </a:r>
          </a:p>
        </p:txBody>
      </p:sp>
      <p:sp>
        <p:nvSpPr>
          <p:cNvPr id="2056" name="Stat 4 label"/>
          <p:cNvSpPr txBox="1"/>
          <p:nvPr/>
        </p:nvSpPr>
        <p:spPr>
          <a:xfrm>
            <a:off x="8947404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KOSPI market cap</a:t>
            </a:r>
          </a:p>
        </p:txBody>
      </p:sp>
      <p:sp>
        <p:nvSpPr>
          <p:cNvPr id="2057" name="Stat 4 caption"/>
          <p:cNvSpPr txBox="1"/>
          <p:nvPr/>
        </p:nvSpPr>
        <p:spPr>
          <a:xfrm>
            <a:off x="8947404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Samsung + SK Hynix combined</a:t>
            </a:r>
          </a:p>
        </p:txBody>
      </p:sp>
      <p:cxnSp>
        <p:nvCxnSpPr>
          <p:cNvPr id="2058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9" name="China note marker"/>
          <p:cNvSpPr/>
          <p:nvPr/>
        </p:nvSpPr>
        <p:spPr>
          <a:xfrm>
            <a:off x="950976" y="5056632"/>
            <a:ext cx="219456" cy="21945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60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driven by its vast electronics manufacturing and fast-growing AI ecosystem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Changing Korea-China Trade Relationship</a:t>
            </a:r>
          </a:p>
        </p:txBody>
      </p:sp>
      <p:sp>
        <p:nvSpPr>
          <p:cNvPr id="2019" name="From box"/>
          <p:cNvSpPr/>
          <p:nvPr/>
        </p:nvSpPr>
        <p:spPr>
          <a:xfrm>
            <a:off x="950976" y="1600200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Complementary production</a:t>
            </a:r>
          </a:p>
        </p:txBody>
      </p:sp>
      <p:sp>
        <p:nvSpPr>
          <p:cNvPr id="2020" name="To box"/>
          <p:cNvSpPr/>
          <p:nvPr/>
        </p:nvSpPr>
        <p:spPr>
          <a:xfrm>
            <a:off x="8046720" y="1600200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Greater competition</a:t>
            </a:r>
          </a:p>
        </p:txBody>
      </p:sp>
      <p:cxnSp>
        <p:nvCxnSpPr>
          <p:cNvPr id="2021" name="Shift arrow"/>
          <p:cNvCxnSpPr/>
          <p:nvPr/>
        </p:nvCxnSpPr>
        <p:spPr>
          <a:xfrm>
            <a:off x="4288536" y="2034540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2" name="Shift driver"/>
          <p:cNvSpPr txBox="1"/>
          <p:nvPr/>
        </p:nvSpPr>
        <p:spPr>
          <a:xfrm>
            <a:off x="4242816" y="1481328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Made in China 2025</a:t>
            </a:r>
          </a:p>
        </p:txBody>
      </p:sp>
      <p:sp>
        <p:nvSpPr>
          <p:cNvPr id="2023" name="Shift driver detail"/>
          <p:cNvSpPr txBox="1"/>
          <p:nvPr/>
        </p:nvSpPr>
        <p:spPr>
          <a:xfrm>
            <a:off x="4242816" y="2130552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 · robotics · EVs</a:t>
            </a:r>
          </a:p>
        </p:txBody>
      </p:sp>
      <p:sp>
        <p:nvSpPr>
          <p:cNvPr id="2024" name="From caption"/>
          <p:cNvSpPr txBox="1"/>
          <p:nvPr/>
        </p:nvSpPr>
        <p:spPr>
          <a:xfrm>
            <a:off x="950976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Korea supplied inputs; China assembled</a:t>
            </a:r>
          </a:p>
        </p:txBody>
      </p:sp>
      <p:sp>
        <p:nvSpPr>
          <p:cNvPr id="2025" name="To caption"/>
          <p:cNvSpPr txBox="1"/>
          <p:nvPr/>
        </p:nvSpPr>
        <p:spPr>
          <a:xfrm>
            <a:off x="8046720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Chinese firms now make goods Korea once supplied</a:t>
            </a:r>
          </a:p>
        </p:txBody>
      </p:sp>
      <p:cxnSp>
        <p:nvCxnSpPr>
          <p:cNvPr id="2026" name="Timeline axis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7" name="Timeline marker 1"/>
          <p:cNvSpPr/>
          <p:nvPr/>
        </p:nvSpPr>
        <p:spPr>
          <a:xfrm>
            <a:off x="950976" y="3511296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28" name="Timeline year 1"/>
          <p:cNvSpPr txBox="1"/>
          <p:nvPr/>
        </p:nvSpPr>
        <p:spPr>
          <a:xfrm>
            <a:off x="950976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2015</a:t>
            </a:r>
          </a:p>
        </p:txBody>
      </p:sp>
      <p:sp>
        <p:nvSpPr>
          <p:cNvPr id="2029" name="Timeline text 1"/>
          <p:cNvSpPr txBox="1"/>
          <p:nvPr/>
        </p:nvSpPr>
        <p:spPr>
          <a:xfrm>
            <a:off x="950976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Made in China 2025: less reliance on foreign tech</a:t>
            </a:r>
          </a:p>
        </p:txBody>
      </p:sp>
      <p:sp>
        <p:nvSpPr>
          <p:cNvPr id="2030" name="Timeline marker 2"/>
          <p:cNvSpPr/>
          <p:nvPr/>
        </p:nvSpPr>
        <p:spPr>
          <a:xfrm>
            <a:off x="3525012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1" name="Timeline year 2"/>
          <p:cNvSpPr txBox="1"/>
          <p:nvPr/>
        </p:nvSpPr>
        <p:spPr>
          <a:xfrm>
            <a:off x="3525012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2023</a:t>
            </a:r>
          </a:p>
        </p:txBody>
      </p:sp>
      <p:sp>
        <p:nvSpPr>
          <p:cNvPr id="2032" name="Timeline text 2"/>
          <p:cNvSpPr txBox="1"/>
          <p:nvPr/>
        </p:nvSpPr>
        <p:spPr>
          <a:xfrm>
            <a:off x="3525012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First annual deficit with China in 30+ years</a:t>
            </a:r>
          </a:p>
        </p:txBody>
      </p:sp>
      <p:sp>
        <p:nvSpPr>
          <p:cNvPr id="2033" name="Timeline marker 3"/>
          <p:cNvSpPr/>
          <p:nvPr/>
        </p:nvSpPr>
        <p:spPr>
          <a:xfrm>
            <a:off x="6099048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4" name="Timeline year 3"/>
          <p:cNvSpPr txBox="1"/>
          <p:nvPr/>
        </p:nvSpPr>
        <p:spPr>
          <a:xfrm>
            <a:off x="6099048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Through 2025</a:t>
            </a:r>
          </a:p>
        </p:txBody>
      </p:sp>
      <p:sp>
        <p:nvSpPr>
          <p:cNvPr id="2035" name="Timeline text 3"/>
          <p:cNvSpPr txBox="1"/>
          <p:nvPr/>
        </p:nvSpPr>
        <p:spPr>
          <a:xfrm>
            <a:off x="6099048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Deficit continues (weaker chip demand also a factor)</a:t>
            </a:r>
          </a:p>
        </p:txBody>
      </p:sp>
      <p:sp>
        <p:nvSpPr>
          <p:cNvPr id="2036" name="Timeline marker 4"/>
          <p:cNvSpPr/>
          <p:nvPr/>
        </p:nvSpPr>
        <p:spPr>
          <a:xfrm>
            <a:off x="8673084" y="3511296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7" name="Timeline year 4"/>
          <p:cNvSpPr txBox="1"/>
          <p:nvPr/>
        </p:nvSpPr>
        <p:spPr>
          <a:xfrm>
            <a:off x="8673084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2026 (Jan–Aug)</a:t>
            </a:r>
          </a:p>
        </p:txBody>
      </p:sp>
      <p:sp>
        <p:nvSpPr>
          <p:cNvPr id="2038" name="Timeline text 4"/>
          <p:cNvSpPr txBox="1"/>
          <p:nvPr/>
        </p:nvSpPr>
        <p:spPr>
          <a:xfrm>
            <a:off x="8673084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Surplus in the first 8 months: competition ≠ less trade</a:t>
            </a:r>
          </a:p>
        </p:txBody>
      </p:sp>
      <p:sp>
        <p:nvSpPr>
          <p:cNvPr id="2039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complementary to competitive,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 through trade</a:t>
            </a:r>
          </a:p>
        </p:txBody>
      </p:sp>
      <p:sp>
        <p:nvSpPr>
          <p:cNvPr id="2040" name="Next topic"/>
          <p:cNvSpPr txBox="1"/>
          <p:nvPr/>
        </p:nvSpPr>
        <p:spPr>
          <a:xfrm>
            <a:off x="7132320" y="617220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semiconductor industry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718" name="Google Shape;718;p69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China's Rise in Memory Chips</a:t>
            </a:r>
          </a:p>
        </p:txBody>
      </p:sp>
      <p:sp>
        <p:nvSpPr>
          <p:cNvPr id="2062" name="CXMT heading"/>
          <p:cNvSpPr txBox="1"/>
          <p:nvPr/>
        </p:nvSpPr>
        <p:spPr>
          <a:xfrm>
            <a:off x="950976" y="157276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CXMT</a:t>
            </a:r>
          </a:p>
        </p:txBody>
      </p:sp>
      <p:sp>
        <p:nvSpPr>
          <p:cNvPr id="2063" name="CXMT intro"/>
          <p:cNvSpPr txBox="1"/>
          <p:nvPr/>
        </p:nvSpPr>
        <p:spPr>
          <a:xfrm>
            <a:off x="950976" y="1938528"/>
            <a:ext cx="44348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ChangXin Memory Technologies: Chinese memory maker, founded 2016</a:t>
            </a:r>
          </a:p>
        </p:txBody>
      </p:sp>
      <p:sp>
        <p:nvSpPr>
          <p:cNvPr id="2064" name="Share before"/>
          <p:cNvSpPr txBox="1"/>
          <p:nvPr/>
        </p:nvSpPr>
        <p:spPr>
          <a:xfrm>
            <a:off x="950976" y="2697480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4%</a:t>
            </a:r>
          </a:p>
        </p:txBody>
      </p:sp>
      <p:cxnSp>
        <p:nvCxnSpPr>
          <p:cNvPr id="2065" name="Share arrow"/>
          <p:cNvCxnSpPr/>
          <p:nvPr/>
        </p:nvCxnSpPr>
        <p:spPr>
          <a:xfrm>
            <a:off x="2368296" y="3131820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6" name="Share after"/>
          <p:cNvSpPr txBox="1"/>
          <p:nvPr/>
        </p:nvSpPr>
        <p:spPr>
          <a:xfrm>
            <a:off x="3328416" y="269748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10%</a:t>
            </a:r>
          </a:p>
        </p:txBody>
      </p:sp>
      <p:sp>
        <p:nvSpPr>
          <p:cNvPr id="2067" name="Share label"/>
          <p:cNvSpPr txBox="1"/>
          <p:nvPr/>
        </p:nvSpPr>
        <p:spPr>
          <a:xfrm>
            <a:off x="950976" y="358444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Global DRAM share, over the past year</a:t>
            </a:r>
          </a:p>
        </p:txBody>
      </p:sp>
      <p:sp>
        <p:nvSpPr>
          <p:cNvPr id="2068" name="Rank value"/>
          <p:cNvSpPr txBox="1"/>
          <p:nvPr/>
        </p:nvSpPr>
        <p:spPr>
          <a:xfrm>
            <a:off x="950976" y="4160520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#4</a:t>
            </a:r>
          </a:p>
        </p:txBody>
      </p:sp>
      <p:sp>
        <p:nvSpPr>
          <p:cNvPr id="2069" name="Rank text"/>
          <p:cNvSpPr txBox="1"/>
          <p:nvPr/>
        </p:nvSpPr>
        <p:spPr>
          <a:xfrm>
            <a:off x="2139696" y="4114800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in DRAM worldwide, behind Samsung, SK Hynix and Micron (US)</a:t>
            </a:r>
          </a:p>
        </p:txBody>
      </p:sp>
      <p:cxnSp>
        <p:nvCxnSpPr>
          <p:cNvPr id="2071" name="Column divider"/>
          <p:cNvCxnSpPr/>
          <p:nvPr/>
        </p:nvCxnSpPr>
        <p:spPr>
          <a:xfrm>
            <a:off x="5669280" y="1645920"/>
            <a:ext cx="0" cy="3429000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2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Korea still leads: years China trails</a:t>
            </a:r>
          </a:p>
        </p:txBody>
      </p:sp>
      <p:graphicFrame>
        <p:nvGraphicFramePr>
          <p:cNvPr id="2076" name="Technology gap chart"/>
          <p:cNvGraphicFramePr>
            <a:graphicFrameLocks noGrp="1"/>
          </p:cNvGraphicFramePr>
          <p:nvPr/>
        </p:nvGraphicFramePr>
        <p:xfrm>
          <a:off x="5897880" y="2011680"/>
          <a:ext cx="5440680" cy="2514600"/>
        </p:xfrm>
        <a:graphic>
          <a:graphicData uri="http://schemas.openxmlformats.org/drawingml/2006/chart">
            <c:chart xmlns:c="http://schemas.openxmlformats.org/drawingml/2006/chart" r:id="rIdTechGap"/>
          </a:graphicData>
        </a:graphic>
      </p:graphicFrame>
      <p:sp>
        <p:nvSpPr>
          <p:cNvPr id="2073" name="Gap source"/>
          <p:cNvSpPr txBox="1"/>
          <p:nvPr/>
        </p:nvSpPr>
        <p:spPr>
          <a:xfrm>
            <a:off x="5989320" y="4526280"/>
            <a:ext cx="5257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Source: Korea Semiconductor Industry Association, Sept 2026. NAND flash = long-term data storage</a:t>
            </a:r>
          </a:p>
        </p:txBody>
      </p:sp>
      <p:sp>
        <p:nvSpPr>
          <p:cNvPr id="2074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customer to competitor,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</a:t>
            </a:r>
          </a:p>
        </p:txBody>
      </p:sp>
      <p:sp>
        <p:nvSpPr>
          <p:cNvPr id="2075" name="Next topic"/>
          <p:cNvSpPr txBox="1"/>
          <p:nvPr/>
        </p:nvSpPr>
        <p:spPr>
          <a:xfrm>
            <a:off x="3931920" y="6172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impact on South Korea's semiconductor industry and economy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