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8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1.xml"/>
  <Override ContentType="application/vnd.openxmlformats-officedocument.presentationml.slide+xml" PartName="/ppt/slides/slide8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4" r:id="rId4"/>
    <p:sldMasterId id="2147483685" r:id="rId5"/>
  </p:sldMasterIdLst>
  <p:notesMasterIdLst>
    <p:notesMasterId r:id="rId6"/>
  </p:notesMasterIdLst>
  <p:sldIdLst>
    <p:sldId id="256" r:id="rId7"/>
    <p:sldId id="263" r:id="rId14"/>
    <p:sldId id="266" r:id="rId17"/>
  </p:sldIdLst>
  <p:sldSz cx="12192000" cy="6858000"/>
  <p:notesSz cx="6858000" cy="9144000"/>
  <p:embeddedFontLst>
    <p:embeddedFont>
      <p:font typeface="Krona One"/>
      <p:regular r:id="rId62"/>
    </p:embeddedFont>
    <p:embeddedFont>
      <p:font typeface="Proxima Nova"/>
      <p:regular r:id="rId63"/>
      <p:bold r:id="rId64"/>
      <p:italic r:id="rId65"/>
      <p:boldItalic r:id="rId66"/>
    </p:embeddedFont>
    <p:embeddedFont>
      <p:font typeface="Roboto Medium"/>
      <p:regular r:id="rId67"/>
      <p:bold r:id="rId68"/>
      <p:italic r:id="rId69"/>
      <p:boldItalic r:id="rId70"/>
    </p:embeddedFont>
    <p:embeddedFont>
      <p:font typeface="Golos Text Medium"/>
      <p:regular r:id="rId71"/>
      <p:bold r:id="rId72"/>
    </p:embeddedFont>
    <p:embeddedFont>
      <p:font typeface="Anek Bangla Light"/>
      <p:regular r:id="rId73"/>
      <p:bold r:id="rId74"/>
    </p:embeddedFont>
    <p:embeddedFont>
      <p:font typeface="Proxima Nova Semibold"/>
      <p:regular r:id="rId75"/>
      <p:bold r:id="rId76"/>
      <p:boldItalic r:id="rId77"/>
    </p:embeddedFont>
    <p:embeddedFont>
      <p:font typeface="Amatic SC"/>
      <p:regular r:id="rId78"/>
      <p:bold r:id="rId79"/>
    </p:embeddedFont>
    <p:embeddedFont>
      <p:font typeface="Anek Bangla"/>
      <p:regular r:id="rId80"/>
      <p:bold r:id="rId81"/>
    </p:embeddedFont>
    <p:embeddedFont>
      <p:font typeface="Albert Sans"/>
      <p:regular r:id="rId82"/>
      <p:bold r:id="rId83"/>
      <p:italic r:id="rId84"/>
      <p:boldItalic r:id="rId85"/>
    </p:embeddedFont>
    <p:embeddedFont>
      <p:font typeface="Anek Bangla Medium"/>
      <p:regular r:id="rId86"/>
      <p:bold r:id="rId87"/>
    </p:embeddedFont>
    <p:embeddedFont>
      <p:font typeface="Open Sans"/>
      <p:regular r:id="rId88"/>
      <p:bold r:id="rId89"/>
      <p:italic r:id="rId90"/>
      <p:boldItalic r:id="rId91"/>
    </p:embeddedFont>
    <p:embeddedFont>
      <p:font typeface="Karla"/>
      <p:regular r:id="rId92"/>
      <p:bold r:id="rId93"/>
      <p:italic r:id="rId94"/>
      <p:boldItalic r:id="rId9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84" Type="http://schemas.openxmlformats.org/officeDocument/2006/relationships/font" Target="fonts/AlbertSans-italic.fntdata"/><Relationship Id="rId83" Type="http://schemas.openxmlformats.org/officeDocument/2006/relationships/font" Target="fonts/AlbertSans-bold.fntdata"/><Relationship Id="rId86" Type="http://schemas.openxmlformats.org/officeDocument/2006/relationships/font" Target="fonts/AnekBanglaMedium-regular.fntdata"/><Relationship Id="rId85" Type="http://schemas.openxmlformats.org/officeDocument/2006/relationships/font" Target="fonts/AlbertSans-boldItalic.fntdata"/><Relationship Id="rId88" Type="http://schemas.openxmlformats.org/officeDocument/2006/relationships/font" Target="fonts/OpenSans-regular.fntdata"/><Relationship Id="rId87" Type="http://schemas.openxmlformats.org/officeDocument/2006/relationships/font" Target="fonts/AnekBanglaMedium-bold.fntdata"/><Relationship Id="rId89" Type="http://schemas.openxmlformats.org/officeDocument/2006/relationships/font" Target="fonts/OpenSans-bold.fntdata"/><Relationship Id="rId80" Type="http://schemas.openxmlformats.org/officeDocument/2006/relationships/font" Target="fonts/AnekBangla-regular.fntdata"/><Relationship Id="rId82" Type="http://schemas.openxmlformats.org/officeDocument/2006/relationships/font" Target="fonts/AlbertSans-regular.fntdata"/><Relationship Id="rId81" Type="http://schemas.openxmlformats.org/officeDocument/2006/relationships/font" Target="fonts/AnekBangla-bold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73" Type="http://schemas.openxmlformats.org/officeDocument/2006/relationships/font" Target="fonts/AnekBanglaLight-regular.fntdata"/><Relationship Id="rId72" Type="http://schemas.openxmlformats.org/officeDocument/2006/relationships/font" Target="fonts/GolosTextMedium-bold.fntdata"/><Relationship Id="rId75" Type="http://schemas.openxmlformats.org/officeDocument/2006/relationships/font" Target="fonts/ProximaNovaSemibold-regular.fntdata"/><Relationship Id="rId74" Type="http://schemas.openxmlformats.org/officeDocument/2006/relationships/font" Target="fonts/AnekBanglaLight-bold.fntdata"/><Relationship Id="rId77" Type="http://schemas.openxmlformats.org/officeDocument/2006/relationships/font" Target="fonts/ProximaNovaSemibold-boldItalic.fntdata"/><Relationship Id="rId76" Type="http://schemas.openxmlformats.org/officeDocument/2006/relationships/font" Target="fonts/ProximaNovaSemibold-bold.fntdata"/><Relationship Id="rId79" Type="http://schemas.openxmlformats.org/officeDocument/2006/relationships/font" Target="fonts/AmaticSC-bold.fntdata"/><Relationship Id="rId78" Type="http://schemas.openxmlformats.org/officeDocument/2006/relationships/font" Target="fonts/AmaticSC-regular.fntdata"/><Relationship Id="rId71" Type="http://schemas.openxmlformats.org/officeDocument/2006/relationships/font" Target="fonts/GolosTextMedium-regular.fntdata"/><Relationship Id="rId70" Type="http://schemas.openxmlformats.org/officeDocument/2006/relationships/font" Target="fonts/RobotoMedium-boldItalic.fntdata"/><Relationship Id="rId62" Type="http://schemas.openxmlformats.org/officeDocument/2006/relationships/font" Target="fonts/KronaOne-regular.fntdata"/><Relationship Id="rId64" Type="http://schemas.openxmlformats.org/officeDocument/2006/relationships/font" Target="fonts/ProximaNova-bold.fntdata"/><Relationship Id="rId63" Type="http://schemas.openxmlformats.org/officeDocument/2006/relationships/font" Target="fonts/ProximaNova-regular.fntdata"/><Relationship Id="rId66" Type="http://schemas.openxmlformats.org/officeDocument/2006/relationships/font" Target="fonts/ProximaNova-boldItalic.fntdata"/><Relationship Id="rId65" Type="http://schemas.openxmlformats.org/officeDocument/2006/relationships/font" Target="fonts/ProximaNova-italic.fntdata"/><Relationship Id="rId68" Type="http://schemas.openxmlformats.org/officeDocument/2006/relationships/font" Target="fonts/RobotoMedium-bold.fntdata"/><Relationship Id="rId67" Type="http://schemas.openxmlformats.org/officeDocument/2006/relationships/font" Target="fonts/RobotoMedium-regular.fntdata"/><Relationship Id="rId69" Type="http://schemas.openxmlformats.org/officeDocument/2006/relationships/font" Target="fonts/RobotoMedium-italic.fntdata"/><Relationship Id="rId95" Type="http://schemas.openxmlformats.org/officeDocument/2006/relationships/font" Target="fonts/Karla-boldItalic.fntdata"/><Relationship Id="rId94" Type="http://schemas.openxmlformats.org/officeDocument/2006/relationships/font" Target="fonts/Karla-italic.fntdata"/><Relationship Id="rId91" Type="http://schemas.openxmlformats.org/officeDocument/2006/relationships/font" Target="fonts/OpenSans-boldItalic.fntdata"/><Relationship Id="rId90" Type="http://schemas.openxmlformats.org/officeDocument/2006/relationships/font" Target="fonts/OpenSans-italic.fntdata"/><Relationship Id="rId93" Type="http://schemas.openxmlformats.org/officeDocument/2006/relationships/font" Target="fonts/Karla-bold.fntdata"/><Relationship Id="rId92" Type="http://schemas.openxmlformats.org/officeDocument/2006/relationships/font" Target="fonts/Karla-regular.fntdata"/><Relationship Id="rId14" Type="http://schemas.openxmlformats.org/officeDocument/2006/relationships/slide" Target="slides/slide8.xml"/><Relationship Id="rId17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/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2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6" name="Google Shape;16;p3"/>
          <p:cNvSpPr txBox="1"/>
          <p:nvPr>
            <p:ph hasCustomPrompt="1" idx="2" type="title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26" name="Google Shape;26;p5"/>
          <p:cNvSpPr txBox="1"/>
          <p:nvPr>
            <p:ph idx="2" type="subTitle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" type="subTitle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/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2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/>
        </p:txBody>
      </p:sp>
      <p:sp>
        <p:nvSpPr>
          <p:cNvPr id="51" name="Google Shape;51;p9"/>
          <p:cNvSpPr txBox="1"/>
          <p:nvPr>
            <p:ph idx="1" type="subTitle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/>
          <p:nvPr>
            <p:ph idx="2" type="pic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subTitle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/>
        </p:txBody>
      </p:sp>
      <p:grpSp>
        <p:nvGrpSpPr>
          <p:cNvPr id="61" name="Google Shape;61;p11"/>
          <p:cNvGrpSpPr/>
          <p:nvPr/>
        </p:nvGrpSpPr>
        <p:grpSpPr>
          <a:xfrm flipH="1" rot="5400000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CUSTOM_16">
    <p:bg>
      <p:bgPr>
        <a:solidFill>
          <a:schemeClr val="accent5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hasCustomPrompt="1" idx="2" type="title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/>
          <p:nvPr>
            <p:ph idx="1" type="subTitle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5" name="Google Shape;75;p14"/>
          <p:cNvSpPr txBox="1"/>
          <p:nvPr>
            <p:ph idx="2" type="subTitle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6" name="Google Shape;76;p14"/>
          <p:cNvSpPr txBox="1"/>
          <p:nvPr>
            <p:ph idx="3" type="subTitle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7" name="Google Shape;77;p14"/>
          <p:cNvSpPr txBox="1"/>
          <p:nvPr>
            <p:ph idx="4" type="subTitle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8" name="Google Shape;78;p14"/>
          <p:cNvSpPr txBox="1"/>
          <p:nvPr>
            <p:ph idx="5" type="subTitle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79" name="Google Shape;79;p14"/>
          <p:cNvSpPr txBox="1"/>
          <p:nvPr>
            <p:ph idx="6" type="subTitle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/>
          <p:nvPr>
            <p:ph hasCustomPrompt="1" type="title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/>
          <p:nvPr>
            <p:ph hasCustomPrompt="1" idx="7" type="title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/>
          <p:nvPr>
            <p:ph hasCustomPrompt="1" idx="8" type="title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/>
          <p:nvPr>
            <p:ph hasCustomPrompt="1" idx="9" type="title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/>
          <p:nvPr>
            <p:ph hasCustomPrompt="1" idx="13" type="title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/>
          <p:nvPr>
            <p:ph hasCustomPrompt="1" idx="14" type="title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/>
          <p:nvPr>
            <p:ph idx="15"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1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/>
          <p:nvPr>
            <p:ph idx="1" type="subTitle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97" name="Google Shape;97;p15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98" name="Google Shape;98;p15"/>
          <p:cNvSpPr txBox="1"/>
          <p:nvPr>
            <p:ph idx="2" type="subTitle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99" name="Google Shape;99;p15"/>
          <p:cNvSpPr txBox="1"/>
          <p:nvPr>
            <p:ph idx="3" type="subTitle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0" name="Google Shape;100;p15"/>
          <p:cNvSpPr txBox="1"/>
          <p:nvPr>
            <p:ph idx="4" type="subTitle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idx="1" type="subTitle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09" name="Google Shape;109;p1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10" name="Google Shape;110;p16"/>
          <p:cNvSpPr txBox="1"/>
          <p:nvPr>
            <p:ph idx="2" type="subTitle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1" name="Google Shape;111;p16"/>
          <p:cNvSpPr txBox="1"/>
          <p:nvPr>
            <p:ph idx="3" type="subTitle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2" name="Google Shape;112;p16"/>
          <p:cNvSpPr txBox="1"/>
          <p:nvPr>
            <p:ph idx="4" type="subTitle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13" name="Google Shape;113;p16"/>
          <p:cNvSpPr txBox="1"/>
          <p:nvPr>
            <p:ph idx="5" type="subTitle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14" name="Google Shape;114;p16"/>
          <p:cNvSpPr txBox="1"/>
          <p:nvPr>
            <p:ph idx="6" type="subTitle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15"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idx="1" type="subTitle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0" name="Google Shape;120;p1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21" name="Google Shape;121;p17"/>
          <p:cNvSpPr txBox="1"/>
          <p:nvPr>
            <p:ph idx="2" type="subTitle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2" name="Google Shape;122;p17"/>
          <p:cNvSpPr txBox="1"/>
          <p:nvPr>
            <p:ph idx="3" type="subTitle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3" name="Google Shape;123;p17"/>
          <p:cNvSpPr txBox="1"/>
          <p:nvPr>
            <p:ph idx="4" type="subTitle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24" name="Google Shape;124;p17"/>
          <p:cNvSpPr txBox="1"/>
          <p:nvPr>
            <p:ph idx="5" type="subTitle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25" name="Google Shape;125;p17"/>
          <p:cNvSpPr txBox="1"/>
          <p:nvPr>
            <p:ph idx="6" type="subTitle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/>
          <p:nvPr>
            <p:ph idx="1" type="subTitle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4" name="Google Shape;134;p1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2" type="subTitle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6" name="Google Shape;136;p18"/>
          <p:cNvSpPr txBox="1"/>
          <p:nvPr>
            <p:ph idx="3" type="subTitle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7" name="Google Shape;137;p18"/>
          <p:cNvSpPr txBox="1"/>
          <p:nvPr>
            <p:ph idx="4" type="subTitle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38" name="Google Shape;138;p18"/>
          <p:cNvSpPr txBox="1"/>
          <p:nvPr>
            <p:ph idx="5" type="subTitle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39" name="Google Shape;139;p18"/>
          <p:cNvSpPr txBox="1"/>
          <p:nvPr>
            <p:ph idx="6" type="subTitle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40" name="Google Shape;140;p18"/>
          <p:cNvSpPr txBox="1"/>
          <p:nvPr>
            <p:ph idx="7" type="subTitle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41" name="Google Shape;141;p18"/>
          <p:cNvSpPr txBox="1"/>
          <p:nvPr>
            <p:ph idx="8" type="subTitle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4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/>
          <p:nvPr>
            <p:ph idx="1" type="subTitle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1" name="Google Shape;151;p1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52" name="Google Shape;152;p19"/>
          <p:cNvSpPr txBox="1"/>
          <p:nvPr>
            <p:ph idx="2" type="subTitle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3" name="Google Shape;153;p19"/>
          <p:cNvSpPr txBox="1"/>
          <p:nvPr>
            <p:ph idx="3" type="subTitle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4" name="Google Shape;154;p19"/>
          <p:cNvSpPr txBox="1"/>
          <p:nvPr>
            <p:ph idx="4" type="subTitle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5" name="Google Shape;155;p19"/>
          <p:cNvSpPr txBox="1"/>
          <p:nvPr>
            <p:ph idx="5" type="subTitle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6" name="Google Shape;156;p19"/>
          <p:cNvSpPr txBox="1"/>
          <p:nvPr>
            <p:ph idx="6" type="subTitle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7" name="Google Shape;157;p19"/>
          <p:cNvSpPr txBox="1"/>
          <p:nvPr>
            <p:ph idx="7" type="subTitle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58" name="Google Shape;158;p19"/>
          <p:cNvSpPr txBox="1"/>
          <p:nvPr>
            <p:ph idx="8" type="subTitle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59" name="Google Shape;159;p19"/>
          <p:cNvSpPr txBox="1"/>
          <p:nvPr>
            <p:ph idx="9" type="subTitle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0" name="Google Shape;160;p19"/>
          <p:cNvSpPr txBox="1"/>
          <p:nvPr>
            <p:ph idx="13" type="subTitle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61" name="Google Shape;161;p19"/>
          <p:cNvSpPr txBox="1"/>
          <p:nvPr>
            <p:ph idx="14" type="subTitle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2" name="Google Shape;162;p19"/>
          <p:cNvSpPr txBox="1"/>
          <p:nvPr>
            <p:ph idx="15" type="subTitle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ight columns">
  <p:cSld name="CUSTOM_17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/>
          <p:nvPr>
            <p:ph idx="1" type="subTitle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68" name="Google Shape;168;p2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69" name="Google Shape;169;p20"/>
          <p:cNvSpPr txBox="1"/>
          <p:nvPr>
            <p:ph idx="2" type="subTitle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0" name="Google Shape;170;p20"/>
          <p:cNvSpPr txBox="1"/>
          <p:nvPr>
            <p:ph idx="3" type="subTitle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1" name="Google Shape;171;p20"/>
          <p:cNvSpPr txBox="1"/>
          <p:nvPr>
            <p:ph idx="4" type="subTitle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2" name="Google Shape;172;p20"/>
          <p:cNvSpPr txBox="1"/>
          <p:nvPr>
            <p:ph idx="5" type="subTitle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3" name="Google Shape;173;p20"/>
          <p:cNvSpPr txBox="1"/>
          <p:nvPr>
            <p:ph idx="6" type="subTitle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4" name="Google Shape;174;p20"/>
          <p:cNvSpPr txBox="1"/>
          <p:nvPr>
            <p:ph idx="7" type="subTitle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5" name="Google Shape;175;p20"/>
          <p:cNvSpPr txBox="1"/>
          <p:nvPr>
            <p:ph idx="8" type="subTitle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6" name="Google Shape;176;p20"/>
          <p:cNvSpPr txBox="1"/>
          <p:nvPr>
            <p:ph idx="9" type="subTitle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7" name="Google Shape;177;p20"/>
          <p:cNvSpPr txBox="1"/>
          <p:nvPr>
            <p:ph idx="13" type="subTitle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78" name="Google Shape;178;p20"/>
          <p:cNvSpPr txBox="1"/>
          <p:nvPr>
            <p:ph idx="14" type="subTitle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79" name="Google Shape;179;p20"/>
          <p:cNvSpPr txBox="1"/>
          <p:nvPr>
            <p:ph idx="15" type="subTitle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0" name="Google Shape;180;p20"/>
          <p:cNvSpPr txBox="1"/>
          <p:nvPr>
            <p:ph idx="16" type="subTitle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1" name="Google Shape;181;p20"/>
          <p:cNvSpPr txBox="1"/>
          <p:nvPr>
            <p:ph idx="17" type="subTitle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82" name="Google Shape;182;p20"/>
          <p:cNvSpPr txBox="1"/>
          <p:nvPr>
            <p:ph idx="18" type="subTitle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/>
        </p:txBody>
      </p:sp>
      <p:sp>
        <p:nvSpPr>
          <p:cNvPr id="183" name="Google Shape;183;p20"/>
          <p:cNvSpPr txBox="1"/>
          <p:nvPr>
            <p:ph idx="19" type="subTitle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6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/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1" type="subTitle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sp>
        <p:nvSpPr>
          <p:cNvPr id="193" name="Google Shape;193;p21"/>
          <p:cNvSpPr/>
          <p:nvPr>
            <p:ph idx="2" type="pic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CUSTOM_8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/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199" name="Google Shape;199;p22"/>
          <p:cNvSpPr txBox="1"/>
          <p:nvPr>
            <p:ph idx="1" type="subTitle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2">
  <p:cSld name="CUSTOM_9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/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 algn="r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8" name="Google Shape;208;p23"/>
          <p:cNvSpPr txBox="1"/>
          <p:nvPr>
            <p:ph idx="1" type="subTitle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3">
  <p:cSld name="CUSTOM_10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/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15" name="Google Shape;215;p24"/>
          <p:cNvSpPr txBox="1"/>
          <p:nvPr>
            <p:ph idx="1" type="subTitle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4">
  <p:cSld name="CUSTOM_18"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/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24" name="Google Shape;224;p25"/>
          <p:cNvSpPr txBox="1"/>
          <p:nvPr>
            <p:ph idx="1" type="subTitle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/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5">
  <p:cSld name="CUSTOM_20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30" name="Google Shape;230;p26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048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1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CUSTOM_12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CUSTOM_13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CUSTOM_14"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grpSp>
        <p:nvGrpSpPr>
          <p:cNvPr id="257" name="Google Shape;257;p30"/>
          <p:cNvGrpSpPr/>
          <p:nvPr/>
        </p:nvGrpSpPr>
        <p:grpSpPr>
          <a:xfrm flipH="1" rot="5400000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fmla="val 0" name="adj1"/>
                <a:gd fmla="val 5391542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7"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/>
          <p:nvPr>
            <p:ph hasCustomPrompt="1" type="title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/>
          <p:nvPr>
            <p:ph idx="1" type="subTitle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5" name="Google Shape;265;p31"/>
          <p:cNvSpPr txBox="1"/>
          <p:nvPr>
            <p:ph hasCustomPrompt="1" idx="2" type="title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/>
          <p:nvPr>
            <p:ph idx="3" type="subTitle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7" name="Google Shape;267;p31"/>
          <p:cNvSpPr txBox="1"/>
          <p:nvPr>
            <p:ph hasCustomPrompt="1" idx="4" type="title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/>
          <p:nvPr>
            <p:ph idx="5" type="subTitle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69" name="Google Shape;269;p31"/>
          <p:cNvGrpSpPr/>
          <p:nvPr/>
        </p:nvGrpSpPr>
        <p:grpSpPr>
          <a:xfrm flipH="1" rot="5400000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5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/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7" name="Google Shape;277;p32"/>
          <p:cNvSpPr txBox="1"/>
          <p:nvPr>
            <p:ph idx="1" type="subTitle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/>
        </p:txBody>
      </p:sp>
      <p:grpSp>
        <p:nvGrpSpPr>
          <p:cNvPr id="278" name="Google Shape;278;p32"/>
          <p:cNvGrpSpPr/>
          <p:nvPr/>
        </p:nvGrpSpPr>
        <p:grpSpPr>
          <a:xfrm flipH="1" rot="10800000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fmla="val 0" name="adj1"/>
                <a:gd fmla="val 5393753" name="adj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19">
    <p:bg>
      <p:bgPr>
        <a:solidFill>
          <a:schemeClr val="accen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/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3" name="Google Shape;283;p33"/>
          <p:cNvSpPr txBox="1"/>
          <p:nvPr>
            <p:ph idx="1" type="subTitle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467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b="1" sz="1467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21"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22"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anchorCtr="0" anchor="ctr" bIns="121900" lIns="121900" spcFirstLastPara="1" rIns="121900" wrap="square" tIns="1219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/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theme" Target="../theme/theme3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/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306" name="Google Shape;306;p36"/>
          <p:cNvSpPr txBox="1"/>
          <p:nvPr>
            <p:ph idx="1" type="body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2" r:id="rId1"/>
    <p:sldLayoutId id="2147483683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/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4400" dirty="0"/>
              <a:t>From Partners to Competitors: The Changing Nature of South Korea-China Trade</a:t>
            </a:r>
          </a:p>
        </p:txBody>
      </p:sp>
      <p:sp>
        <p:nvSpPr>
          <p:cNvPr id="315" name="Google Shape;315;p39"/>
          <p:cNvSpPr txBox="1"/>
          <p:nvPr>
            <p:ph idx="1" type="subTitle"/>
          </p:nvPr>
        </p:nvSpPr>
        <p:spPr>
          <a:xfrm>
            <a:off x="1271016" y="5257800"/>
            <a:ext cx="5943600" cy="548640"/>
          </a:xfrm>
        </p:spPr>
        <p:txBody>
          <a:bodyPr anchorCtr="0" anchor="b" bIns="121900" lIns="121900" spcFirstLastPara="1" rIns="121900" wrap="square" tIns="121900">
            <a:noAutofit/>
          </a:bodyPr>
          <a:lstStyle/>
          <a:p>
            <a:r>
              <a:rPr lang="en-US" sz="2000" dirty="0"/>
              <a:t>Presenter Name | Course | Date</a:t>
            </a:r>
          </a:p>
        </p:txBody>
      </p:sp>
      <p:cxnSp>
        <p:nvCxnSpPr>
          <p:cNvPr id="316" name="Google Shape;316;p39"/>
          <p:cNvCxnSpPr/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cap="flat" cmpd="sng" w="12700">
            <a:solidFill>
              <a:srgbClr val="272727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17" name="Google Shape;317;p39"/>
          <p:cNvGrpSpPr/>
          <p:nvPr/>
        </p:nvGrpSpPr>
        <p:grpSpPr>
          <a:xfrm>
            <a:off x="9485233" y="0"/>
            <a:ext cx="2784400" cy="6858000"/>
            <a:chOff x="9485233" y="0"/>
            <a:chExt cx="2784400" cy="6858000"/>
          </a:xfrm>
        </p:grpSpPr>
        <p:sp>
          <p:nvSpPr>
            <p:cNvPr id="318" name="Google Shape;318;p39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19" name="Google Shape;319;p39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0" name="Google Shape;320;p39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121900" lIns="121900" spcFirstLastPara="1" rIns="121900" wrap="square" tIns="1219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6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r>
              <a:rPr lang="en-US" sz="3600" dirty="0"/>
              <a:t>Background: How the Relationship Developed</a:t>
            </a:r>
          </a:p>
        </p:txBody>
      </p:sp>
      <p:sp>
        <p:nvSpPr>
          <p:cNvPr id="2000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1992</a:t>
            </a:r>
          </a:p>
        </p:txBody>
      </p:sp>
      <p:sp>
        <p:nvSpPr>
          <p:cNvPr id="2001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$6.4B</a:t>
            </a:r>
          </a:p>
        </p:txBody>
      </p:sp>
      <p:sp>
        <p:nvSpPr>
          <p:cNvPr id="2002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Diplomatic ties established</a:t>
            </a:r>
          </a:p>
        </p:txBody>
      </p:sp>
      <p:sp>
        <p:nvSpPr>
          <p:cNvPr id="2003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2025</a:t>
            </a:r>
          </a:p>
        </p:txBody>
      </p:sp>
      <p:sp>
        <p:nvSpPr>
          <p:cNvPr id="2004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accent2"/>
                </a:solidFill>
                <a:latin typeface="+mj-lt"/>
                <a:ea typeface="+mj-lt"/>
                <a:cs typeface="+mj-lt"/>
              </a:rPr>
              <a:t>$273B</a:t>
            </a:r>
          </a:p>
        </p:txBody>
      </p:sp>
      <p:sp>
        <p:nvSpPr>
          <p:cNvPr id="2005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More than 40x the 1992 level</a:t>
            </a:r>
          </a:p>
        </p:txBody>
      </p:sp>
      <p:sp>
        <p:nvSpPr>
          <p:cNvPr id="2006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Trading partner</a:t>
            </a:r>
          </a:p>
        </p:txBody>
      </p:sp>
      <p:sp>
        <p:nvSpPr>
          <p:cNvPr id="2007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dirty="0">
                <a:solidFill>
                  <a:schemeClr val="dk2"/>
                </a:solidFill>
                <a:latin typeface="+mj-lt"/>
                <a:ea typeface="+mj-lt"/>
                <a:cs typeface="+mj-lt"/>
              </a:rPr>
              <a:t>#1</a:t>
            </a:r>
          </a:p>
        </p:txBody>
      </p:sp>
      <p:sp>
        <p:nvSpPr>
          <p:cNvPr id="2008" name="Stat 3 caption"/>
          <p:cNvSpPr txBox="1"/>
          <p:nvPr/>
        </p:nvSpPr>
        <p:spPr>
          <a:xfrm>
            <a:off x="8046720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China's rank for Korea, 22 consecutive years</a:t>
            </a:r>
          </a:p>
        </p:txBody>
      </p:sp>
      <p:cxnSp>
        <p:nvCxnSpPr>
          <p:cNvPr id="2009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0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A complementary production relationship: both sides benefited</a:t>
            </a:r>
          </a:p>
        </p:txBody>
      </p:sp>
      <p:sp>
        <p:nvSpPr>
          <p:cNvPr id="2011" name="Economy 1"/>
          <p:cNvSpPr/>
          <p:nvPr/>
        </p:nvSpPr>
        <p:spPr>
          <a:xfrm>
            <a:off x="950976" y="4224528"/>
            <a:ext cx="3429000" cy="1810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Higher-value intermediate goods: semiconductors, electronic components, petrochemicals</a:t>
            </a:r>
          </a:p>
        </p:txBody>
      </p:sp>
      <p:sp>
        <p:nvSpPr>
          <p:cNvPr id="2012" name="Economy 2"/>
          <p:cNvSpPr/>
          <p:nvPr/>
        </p:nvSpPr>
        <p:spPr>
          <a:xfrm>
            <a:off x="7818120" y="4224528"/>
            <a:ext cx="3429000" cy="1810512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anchor="ctr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Imported them to make finished products: smartphones, computers, consumer electronics</a:t>
            </a:r>
          </a:p>
        </p:txBody>
      </p:sp>
      <p:cxnSp>
        <p:nvCxnSpPr>
          <p:cNvPr id="2013" name="Arrow: components to China"/>
          <p:cNvCxnSpPr/>
          <p:nvPr/>
        </p:nvCxnSpPr>
        <p:spPr>
          <a:xfrm>
            <a:off x="4489704" y="481888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4" name="Label: components"/>
          <p:cNvSpPr txBox="1"/>
          <p:nvPr/>
        </p:nvSpPr>
        <p:spPr>
          <a:xfrm>
            <a:off x="4379976" y="436168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Components &amp; technology</a:t>
            </a:r>
          </a:p>
        </p:txBody>
      </p:sp>
      <p:cxnSp>
        <p:nvCxnSpPr>
          <p:cNvPr id="2015" name="Arrow: market access to Korea"/>
          <p:cNvCxnSpPr/>
          <p:nvPr/>
        </p:nvCxnSpPr>
        <p:spPr>
          <a:xfrm flipH="1">
            <a:off x="4489704" y="544068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6" name="Label: market access"/>
          <p:cNvSpPr txBox="1"/>
          <p:nvPr/>
        </p:nvSpPr>
        <p:spPr>
          <a:xfrm>
            <a:off x="4379976" y="551383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Access to a vast market</a:t>
            </a:r>
          </a:p>
        </p:txBody>
      </p:sp>
      <p:sp>
        <p:nvSpPr>
          <p:cNvPr id="2017" name="Transition line"/>
          <p:cNvSpPr txBox="1"/>
          <p:nvPr/>
        </p:nvSpPr>
        <p:spPr>
          <a:xfrm>
            <a:off x="950976" y="6172200"/>
            <a:ext cx="9601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China's own industrial capabilities have expanded, and the relationship is evolving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49"/>
          <p:cNvSpPr txBox="1"/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r>
              <a:rPr lang="en-US" sz="3600" dirty="0"/>
              <a:t>Changing Korea-China Trade Relationship</a:t>
            </a:r>
          </a:p>
        </p:txBody>
      </p:sp>
      <p:sp>
        <p:nvSpPr>
          <p:cNvPr id="2018" name="From box"/>
          <p:cNvSpPr/>
          <p:nvPr/>
        </p:nvSpPr>
        <p:spPr>
          <a:xfrm>
            <a:off x="950976" y="1600200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Complementary production</a:t>
            </a:r>
          </a:p>
        </p:txBody>
      </p:sp>
      <p:sp>
        <p:nvSpPr>
          <p:cNvPr id="2019" name="To box"/>
          <p:cNvSpPr/>
          <p:nvPr/>
        </p:nvSpPr>
        <p:spPr>
          <a:xfrm>
            <a:off x="8046720" y="1600200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Greater competition</a:t>
            </a:r>
          </a:p>
        </p:txBody>
      </p:sp>
      <p:cxnSp>
        <p:nvCxnSpPr>
          <p:cNvPr id="2020" name="Shift arrow"/>
          <p:cNvCxnSpPr/>
          <p:nvPr/>
        </p:nvCxnSpPr>
        <p:spPr>
          <a:xfrm>
            <a:off x="4288536" y="2034540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1" name="Shift driver"/>
          <p:cNvSpPr txBox="1"/>
          <p:nvPr/>
        </p:nvSpPr>
        <p:spPr>
          <a:xfrm>
            <a:off x="4242816" y="1481328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Made in China 2025</a:t>
            </a:r>
          </a:p>
        </p:txBody>
      </p:sp>
      <p:sp>
        <p:nvSpPr>
          <p:cNvPr id="2022" name="Shift driver detail"/>
          <p:cNvSpPr txBox="1"/>
          <p:nvPr/>
        </p:nvSpPr>
        <p:spPr>
          <a:xfrm>
            <a:off x="4242816" y="2130552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semiconductors · robotics · EVs</a:t>
            </a:r>
          </a:p>
        </p:txBody>
      </p:sp>
      <p:sp>
        <p:nvSpPr>
          <p:cNvPr id="2023" name="From caption"/>
          <p:cNvSpPr txBox="1"/>
          <p:nvPr/>
        </p:nvSpPr>
        <p:spPr>
          <a:xfrm>
            <a:off x="950976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Korea supplied inputs; China assembled</a:t>
            </a:r>
          </a:p>
        </p:txBody>
      </p:sp>
      <p:sp>
        <p:nvSpPr>
          <p:cNvPr id="2024" name="To caption"/>
          <p:cNvSpPr txBox="1"/>
          <p:nvPr/>
        </p:nvSpPr>
        <p:spPr>
          <a:xfrm>
            <a:off x="8046720" y="256032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Chinese firms now make goods Korea once supplied</a:t>
            </a:r>
          </a:p>
        </p:txBody>
      </p:sp>
      <p:cxnSp>
        <p:nvCxnSpPr>
          <p:cNvPr id="2025" name="Timeline axis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6" name="Timeline marker 1"/>
          <p:cNvSpPr/>
          <p:nvPr/>
        </p:nvSpPr>
        <p:spPr>
          <a:xfrm>
            <a:off x="950976" y="3511296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27" name="Timeline year 1"/>
          <p:cNvSpPr txBox="1"/>
          <p:nvPr/>
        </p:nvSpPr>
        <p:spPr>
          <a:xfrm>
            <a:off x="950976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+mn-lt"/>
                <a:ea typeface="+mn-lt"/>
                <a:cs typeface="+mn-lt"/>
              </a:rPr>
              <a:t>2015</a:t>
            </a:r>
          </a:p>
        </p:txBody>
      </p:sp>
      <p:sp>
        <p:nvSpPr>
          <p:cNvPr id="2028" name="Timeline text 1"/>
          <p:cNvSpPr txBox="1"/>
          <p:nvPr/>
        </p:nvSpPr>
        <p:spPr>
          <a:xfrm>
            <a:off x="950976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Made in China 2025: less reliance on foreign tech</a:t>
            </a:r>
          </a:p>
        </p:txBody>
      </p:sp>
      <p:sp>
        <p:nvSpPr>
          <p:cNvPr id="2029" name="Timeline marker 2"/>
          <p:cNvSpPr/>
          <p:nvPr/>
        </p:nvSpPr>
        <p:spPr>
          <a:xfrm>
            <a:off x="3525012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0" name="Timeline year 2"/>
          <p:cNvSpPr txBox="1"/>
          <p:nvPr/>
        </p:nvSpPr>
        <p:spPr>
          <a:xfrm>
            <a:off x="3525012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2023</a:t>
            </a:r>
          </a:p>
        </p:txBody>
      </p:sp>
      <p:sp>
        <p:nvSpPr>
          <p:cNvPr id="2031" name="Timeline text 2"/>
          <p:cNvSpPr txBox="1"/>
          <p:nvPr/>
        </p:nvSpPr>
        <p:spPr>
          <a:xfrm>
            <a:off x="3525012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First annual deficit with China in 30+ years</a:t>
            </a:r>
          </a:p>
        </p:txBody>
      </p:sp>
      <p:sp>
        <p:nvSpPr>
          <p:cNvPr id="2032" name="Timeline marker 3"/>
          <p:cNvSpPr/>
          <p:nvPr/>
        </p:nvSpPr>
        <p:spPr>
          <a:xfrm>
            <a:off x="6099048" y="3511296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3" name="Timeline year 3"/>
          <p:cNvSpPr txBox="1"/>
          <p:nvPr/>
        </p:nvSpPr>
        <p:spPr>
          <a:xfrm>
            <a:off x="6099048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+mn-lt"/>
                <a:ea typeface="+mn-lt"/>
                <a:cs typeface="+mn-lt"/>
              </a:rPr>
              <a:t>Through 2025</a:t>
            </a:r>
          </a:p>
        </p:txBody>
      </p:sp>
      <p:sp>
        <p:nvSpPr>
          <p:cNvPr id="2034" name="Timeline text 3"/>
          <p:cNvSpPr txBox="1"/>
          <p:nvPr/>
        </p:nvSpPr>
        <p:spPr>
          <a:xfrm>
            <a:off x="6099048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Deficit continues (weaker chip demand also a factor)</a:t>
            </a:r>
          </a:p>
        </p:txBody>
      </p:sp>
      <p:sp>
        <p:nvSpPr>
          <p:cNvPr id="2035" name="Timeline marker 4"/>
          <p:cNvSpPr/>
          <p:nvPr/>
        </p:nvSpPr>
        <p:spPr>
          <a:xfrm>
            <a:off x="8673084" y="3511296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endParaRPr lang="en-US"/>
          </a:p>
        </p:txBody>
      </p:sp>
      <p:sp>
        <p:nvSpPr>
          <p:cNvPr id="2036" name="Timeline year 4"/>
          <p:cNvSpPr txBox="1"/>
          <p:nvPr/>
        </p:nvSpPr>
        <p:spPr>
          <a:xfrm>
            <a:off x="8673084" y="3813048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+mn-lt"/>
                <a:ea typeface="+mn-lt"/>
                <a:cs typeface="+mn-lt"/>
              </a:rPr>
              <a:t>2026 (Jan–Aug)</a:t>
            </a:r>
          </a:p>
        </p:txBody>
      </p:sp>
      <p:sp>
        <p:nvSpPr>
          <p:cNvPr id="2037" name="Timeline text 4"/>
          <p:cNvSpPr txBox="1"/>
          <p:nvPr/>
        </p:nvSpPr>
        <p:spPr>
          <a:xfrm>
            <a:off x="8673084" y="4215384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+mn-lt"/>
                <a:ea typeface="+mn-lt"/>
                <a:cs typeface="+mn-lt"/>
              </a:rPr>
              <a:t>Surplus in the first 8 months: competition ≠ less trade</a:t>
            </a:r>
          </a:p>
        </p:txBody>
      </p:sp>
      <p:sp>
        <p:nvSpPr>
          <p:cNvPr id="2038" name="Takeaway banner"/>
          <p:cNvSpPr/>
          <p:nvPr/>
        </p:nvSpPr>
        <p:spPr>
          <a:xfrm>
            <a:off x="950976" y="5349240"/>
            <a:ext cx="10296144" cy="68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anchor="ctr" rtlCol="0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From complementary to competitive, </a:t>
            </a:r>
            <a:r>
              <a:rPr lang="en-US" sz="2000" b="0" dirty="0">
                <a:solidFill>
                  <a:schemeClr val="lt1"/>
                </a:solidFill>
                <a:latin typeface="+mn-lt"/>
                <a:ea typeface="+mn-lt"/>
                <a:cs typeface="+mn-lt"/>
              </a:rPr>
              <a:t>yet still deeply interconnected through trade</a:t>
            </a:r>
          </a:p>
        </p:txBody>
      </p:sp>
      <p:sp>
        <p:nvSpPr>
          <p:cNvPr id="2039" name="Next topic"/>
          <p:cNvSpPr txBox="1"/>
          <p:nvPr/>
        </p:nvSpPr>
        <p:spPr>
          <a:xfrm>
            <a:off x="7132320" y="617220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dirty="0">
                <a:solidFill>
                  <a:schemeClr val="accent3"/>
                </a:solidFill>
                <a:latin typeface="+mn-lt"/>
                <a:ea typeface="+mn-lt"/>
                <a:cs typeface="+mn-lt"/>
              </a:rPr>
              <a:t>Next: the semiconductor industry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